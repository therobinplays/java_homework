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A0963-3D84-4F1E-B6E0-E8A1B2793F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A2B90D-8834-4319-B9F6-ECC0A7049A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9D9B4-CB54-4A81-8DE3-8BB7DC320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077F-E5BB-4730-80D2-9A6534106AB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9A384-B0E8-42EB-A9FA-F14AB3154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0BAE7-A7A5-4EE8-84D4-499880D13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BF16F-3DE1-4D8D-8B47-3D4038D05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637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DEA85-A664-4B1D-905F-E8062822D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0BFA6-4CF0-4088-A77D-C3A7192D4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15168-94BD-4E67-A58F-AC874391D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077F-E5BB-4730-80D2-9A6534106AB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A23D8-C16A-484B-B637-17C27D180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6458D-46AA-44A0-A64B-581B6F6A5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BF16F-3DE1-4D8D-8B47-3D4038D05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0AB18-67F0-4A72-AEF5-6892D8407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4AE69-80A3-4894-8804-345F49DF9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C318B-90BA-4301-A76B-7E634DAFA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077F-E5BB-4730-80D2-9A6534106AB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93B50-23D4-4F30-B8E8-AFB48FCA7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EF272-E627-4E6B-B03B-5F266FADD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BF16F-3DE1-4D8D-8B47-3D4038D05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153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61B30-4319-43AD-883B-63AE22994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30902-4966-468A-9815-236AB16364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85A50B-6374-4680-8E66-0D5AE66B9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EB1C7B-A006-412B-B970-61BD86C4A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077F-E5BB-4730-80D2-9A6534106AB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689446-2492-4C99-B580-905B9F08A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729A7-8FA7-4D60-918B-5BCC9EA49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BF16F-3DE1-4D8D-8B47-3D4038D05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892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8ACDC-64F4-4694-B4FD-42CF1E547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378B05-3C79-48C5-B8A0-6236AC962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783DF-8FA0-4803-BDDC-84D20A01B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62C18E-6AD0-4927-BDAF-D0A5AAF052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2AC210-8EF6-4CCD-BA2C-FA454B5BE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DE3EB-965B-49A6-9F25-B1333B9B3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077F-E5BB-4730-80D2-9A6534106AB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E8048F-D104-43DD-81E6-694A49DA2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3D2C0D-A717-4F51-A8BA-E84D8EE56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BF16F-3DE1-4D8D-8B47-3D4038D05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121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A8F27-B69E-4B98-BA2E-C971C81E2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ECC71A-3FDD-4266-89FD-7EC4F1FAB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077F-E5BB-4730-80D2-9A6534106AB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F6A627-D392-4D3D-A7F5-AEC1F9006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67B29B-98F7-43C5-B5FD-C08F31A7B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BF16F-3DE1-4D8D-8B47-3D4038D05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609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8A5B8D-1007-4055-A85E-E3DDBE236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077F-E5BB-4730-80D2-9A6534106AB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53FDB9-94BA-4B84-8D8F-014A8E56E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A86E0-744F-439D-B30D-4B06F6AD6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BF16F-3DE1-4D8D-8B47-3D4038D05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304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95516-0D3D-44C7-A74C-EA61170DD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2A82D-B65E-47DD-A74B-EA32C8F69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0452EE-21B5-4B86-8FFD-EE08CF710F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7A8141-A68F-4E92-89AE-1E575D7A4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077F-E5BB-4730-80D2-9A6534106AB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07E8F-27E4-4447-8963-ECD92C1C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25F759-5A91-457F-8C55-BC9FA59D8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BF16F-3DE1-4D8D-8B47-3D4038D05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656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1D4EC-BEF7-473B-9EF5-70631B57A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E6253B-1517-4F7E-8D71-1989FC747E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434DA6-AADC-4E75-9800-765F3D92B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737876-94A8-4D05-882D-2C3A0C3A6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077F-E5BB-4730-80D2-9A6534106AB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073272-B6EA-4BED-BF0F-E314EAE39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55FF7-1CAA-4AAC-9009-F268EEB0D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BF16F-3DE1-4D8D-8B47-3D4038D05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227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6BF82-EA83-43EF-8AAD-CCE3ADCC9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47FD8E-D9CA-43EF-8C27-2B77E377FB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108CC-0BAF-41F8-9062-D27781FBC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077F-E5BB-4730-80D2-9A6534106AB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0BD8E-9311-4763-9068-72E74C287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50A8C-01FD-40EE-A413-9B998F445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BF16F-3DE1-4D8D-8B47-3D4038D05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584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77C988-2423-4BF6-9AF2-C0CCB24D38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99D35B-96DA-49BF-ADC7-2E71F7EBC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299A8-732B-4FD7-BA74-DEA40344D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077F-E5BB-4730-80D2-9A6534106AB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0BF77-B5D2-4058-9DF0-18E1CC373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4B950-A7FD-4DAD-80AF-E75964D4E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BF16F-3DE1-4D8D-8B47-3D4038D05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25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6E2F4D-DF66-48A9-BD4B-9DE173B24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87A2C-3E5C-4E18-A0A7-D68717881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E6129-B31E-4BC2-B8F4-53EF9A9A9D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C0077F-E5BB-4730-80D2-9A6534106AB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CAA98-7543-465C-B22C-A24E7B1661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3B36D-4A5E-477D-A443-494AA613C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7BF16F-3DE1-4D8D-8B47-3D4038D05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71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68793-6260-4A65-AD2A-FFFC38534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000" dirty="0">
                <a:latin typeface="Agency FB" panose="020B0503020202020204" pitchFamily="34" charset="0"/>
              </a:rPr>
              <a:t>PROMPT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20032-F77E-4091-BCF9-ED15AAF47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9558" y="4091781"/>
            <a:ext cx="6926580" cy="49684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latin typeface="Agency FB" panose="020B0503020202020204" pitchFamily="34" charset="0"/>
              </a:rPr>
              <a:t>THE WAY TO ENHANCE YOUR COMMAND AND GET BETTER RESULTS ACCORDING TO YOU</a:t>
            </a:r>
          </a:p>
        </p:txBody>
      </p:sp>
    </p:spTree>
    <p:extLst>
      <p:ext uri="{BB962C8B-B14F-4D97-AF65-F5344CB8AC3E}">
        <p14:creationId xmlns:p14="http://schemas.microsoft.com/office/powerpoint/2010/main" val="397912687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05458-4006-489F-823C-4DB02D688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2516" y="122064"/>
            <a:ext cx="7946968" cy="876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gency FB" panose="020B0503020202020204" pitchFamily="34" charset="0"/>
              </a:rPr>
              <a:t>What is prompt engineering 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8E188F-BBCE-4890-B8BA-51215E166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6612" y="1504603"/>
            <a:ext cx="8898775" cy="5079077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>
                <a:latin typeface="Agency FB" panose="020B0503020202020204" pitchFamily="34" charset="0"/>
              </a:rPr>
              <a:t>Prompt engineering</a:t>
            </a:r>
            <a:r>
              <a:rPr lang="en-US" dirty="0">
                <a:latin typeface="Agency FB" panose="020B0503020202020204" pitchFamily="34" charset="0"/>
              </a:rPr>
              <a:t> is the practice of </a:t>
            </a:r>
            <a:r>
              <a:rPr lang="en-US" b="1" dirty="0">
                <a:latin typeface="Agency FB" panose="020B0503020202020204" pitchFamily="34" charset="0"/>
              </a:rPr>
              <a:t>designing and refining the instructions (prompts)</a:t>
            </a:r>
            <a:r>
              <a:rPr lang="en-US" dirty="0">
                <a:latin typeface="Agency FB" panose="020B0503020202020204" pitchFamily="34" charset="0"/>
              </a:rPr>
              <a:t> you give to an AI model so it produces </a:t>
            </a:r>
            <a:r>
              <a:rPr lang="en-US" b="1" dirty="0">
                <a:latin typeface="Agency FB" panose="020B0503020202020204" pitchFamily="34" charset="0"/>
              </a:rPr>
              <a:t>more accurate, useful, and reliable outputs</a:t>
            </a:r>
            <a:r>
              <a:rPr lang="en-US" dirty="0">
                <a:latin typeface="Agency FB" panose="020B050302020202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dirty="0">
              <a:latin typeface="Agency FB" panose="020B05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gency FB" panose="020B0503020202020204" pitchFamily="34" charset="0"/>
              </a:rPr>
              <a:t>In simple terms: it’s how you ask the AI to get the best answer.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>
              <a:latin typeface="Agency FB" panose="020B0503020202020204" pitchFamily="34" charset="0"/>
            </a:endParaRPr>
          </a:p>
          <a:p>
            <a:r>
              <a:rPr lang="en-US" sz="3500" dirty="0">
                <a:latin typeface="Agency FB" panose="020B0503020202020204" pitchFamily="34" charset="0"/>
              </a:rPr>
              <a:t>What prompt engineering involves ?</a:t>
            </a:r>
          </a:p>
          <a:p>
            <a:endParaRPr lang="en-US" sz="3500" dirty="0">
              <a:latin typeface="Agency FB" panose="020B0503020202020204" pitchFamily="34" charset="0"/>
            </a:endParaRP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600" dirty="0">
                <a:latin typeface="Agency FB" panose="020B0503020202020204" pitchFamily="34" charset="0"/>
              </a:rPr>
              <a:t>It includes techniques like:</a:t>
            </a:r>
          </a:p>
          <a:p>
            <a:endParaRPr lang="en-US" dirty="0">
              <a:latin typeface="Agency FB" panose="020B0503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Agency FB" panose="020B0503020202020204" pitchFamily="34" charset="0"/>
              </a:rPr>
              <a:t>Being specific</a:t>
            </a:r>
            <a:r>
              <a:rPr lang="en-US" dirty="0">
                <a:latin typeface="Agency FB" panose="020B0503020202020204" pitchFamily="34" charset="0"/>
              </a:rPr>
              <a:t> about what you want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Agency FB" panose="020B0503020202020204" pitchFamily="34" charset="0"/>
              </a:rPr>
              <a:t>Providing context</a:t>
            </a:r>
            <a:r>
              <a:rPr lang="en-US" dirty="0">
                <a:latin typeface="Agency FB" panose="020B0503020202020204" pitchFamily="34" charset="0"/>
              </a:rPr>
              <a:t> or background information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Agency FB" panose="020B0503020202020204" pitchFamily="34" charset="0"/>
              </a:rPr>
              <a:t>Setting constraints</a:t>
            </a:r>
            <a:r>
              <a:rPr lang="en-US" dirty="0">
                <a:latin typeface="Agency FB" panose="020B0503020202020204" pitchFamily="34" charset="0"/>
              </a:rPr>
              <a:t> (length, tone, format)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Agency FB" panose="020B0503020202020204" pitchFamily="34" charset="0"/>
              </a:rPr>
              <a:t>Giving examples</a:t>
            </a:r>
            <a:r>
              <a:rPr lang="en-US" dirty="0">
                <a:latin typeface="Agency FB" panose="020B0503020202020204" pitchFamily="34" charset="0"/>
              </a:rPr>
              <a:t> of desired output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Agency FB" panose="020B0503020202020204" pitchFamily="34" charset="0"/>
              </a:rPr>
              <a:t>Defining a role</a:t>
            </a:r>
            <a:r>
              <a:rPr lang="en-US" dirty="0">
                <a:latin typeface="Agency FB" panose="020B0503020202020204" pitchFamily="34" charset="0"/>
              </a:rPr>
              <a:t> for the AI (e.g., “Act as a math tutor”)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gency FB" panose="020B0503020202020204" pitchFamily="34" charset="0"/>
            </a:endParaRPr>
          </a:p>
          <a:p>
            <a:endParaRPr lang="en-US" sz="3500" dirty="0">
              <a:latin typeface="Agency FB" panose="020B0503020202020204" pitchFamily="34" charset="0"/>
            </a:endParaRPr>
          </a:p>
          <a:p>
            <a:endParaRPr lang="en-US" sz="4800" dirty="0">
              <a:latin typeface="Agency FB" panose="020B0503020202020204" pitchFamily="34" charset="0"/>
            </a:endParaRPr>
          </a:p>
          <a:p>
            <a:endParaRPr lang="en-US" sz="4800" dirty="0">
              <a:latin typeface="Agency FB" panose="020B0503020202020204" pitchFamily="34" charset="0"/>
            </a:endParaRP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gency FB" panose="020B0503020202020204" pitchFamily="34" charset="0"/>
            </a:endParaRPr>
          </a:p>
          <a:p>
            <a:endParaRPr lang="en-US" dirty="0">
              <a:latin typeface="Agency FB" panose="020B0503020202020204" pitchFamily="34" charset="0"/>
            </a:endParaRPr>
          </a:p>
          <a:p>
            <a:endParaRPr lang="en-US" dirty="0">
              <a:latin typeface="Agency FB" panose="020B0503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9779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6085D-6D51-4C17-AB26-1BA6A52FFD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9504"/>
            <a:ext cx="9144000" cy="89976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gency FB" panose="020B0503020202020204" pitchFamily="34" charset="0"/>
              </a:rPr>
              <a:t>Types of prompt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88C89E-4884-42CE-AC50-CEEC7C851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7749" y="2005994"/>
            <a:ext cx="11496502" cy="4095547"/>
          </a:xfrm>
        </p:spPr>
        <p:txBody>
          <a:bodyPr>
            <a:normAutofit fontScale="40000" lnSpcReduction="20000"/>
          </a:bodyPr>
          <a:lstStyle/>
          <a:p>
            <a:pPr marL="1143000" indent="-1143000">
              <a:buFont typeface="Wingdings" panose="05000000000000000000" pitchFamily="2" charset="2"/>
              <a:buChar char="Ø"/>
            </a:pPr>
            <a:r>
              <a:rPr lang="en-US" sz="12800" dirty="0">
                <a:latin typeface="Agency FB" panose="020B0503020202020204" pitchFamily="34" charset="0"/>
              </a:rPr>
              <a:t>The types of prompt engineering are listed below:</a:t>
            </a:r>
          </a:p>
          <a:p>
            <a:endParaRPr lang="en-US" sz="12800" dirty="0">
              <a:latin typeface="Agency FB" panose="020B0503020202020204" pitchFamily="34" charset="0"/>
            </a:endParaRPr>
          </a:p>
          <a:p>
            <a:pPr marL="1143000" indent="-1143000" algn="l">
              <a:buFont typeface="Arial" panose="020B0604020202020204" pitchFamily="34" charset="0"/>
              <a:buChar char="•"/>
            </a:pPr>
            <a:r>
              <a:rPr lang="en-US" sz="7400" b="1" dirty="0">
                <a:latin typeface="Agency FB" panose="020B0503020202020204" pitchFamily="34" charset="0"/>
              </a:rPr>
              <a:t>Zero-shot prompting</a:t>
            </a:r>
            <a:endParaRPr lang="en-US" sz="7400" dirty="0">
              <a:latin typeface="Agency FB" panose="020B0503020202020204" pitchFamily="34" charset="0"/>
            </a:endParaRPr>
          </a:p>
          <a:p>
            <a:pPr marL="1143000" indent="-1143000" algn="l">
              <a:buFont typeface="Arial" panose="020B0604020202020204" pitchFamily="34" charset="0"/>
              <a:buChar char="•"/>
            </a:pPr>
            <a:r>
              <a:rPr lang="en-US" sz="7400" b="1" dirty="0">
                <a:latin typeface="Agency FB" panose="020B0503020202020204" pitchFamily="34" charset="0"/>
              </a:rPr>
              <a:t>Few-shot prompting</a:t>
            </a:r>
            <a:endParaRPr lang="en-US" sz="7400" dirty="0">
              <a:latin typeface="Agency FB" panose="020B0503020202020204" pitchFamily="34" charset="0"/>
            </a:endParaRPr>
          </a:p>
          <a:p>
            <a:pPr marL="1143000" indent="-1143000" algn="l">
              <a:buFont typeface="Arial" panose="020B0604020202020204" pitchFamily="34" charset="0"/>
              <a:buChar char="•"/>
            </a:pPr>
            <a:r>
              <a:rPr lang="en-US" sz="7400" b="1" dirty="0">
                <a:latin typeface="Agency FB" panose="020B0503020202020204" pitchFamily="34" charset="0"/>
              </a:rPr>
              <a:t>Instruction-based prompting</a:t>
            </a:r>
            <a:endParaRPr lang="en-US" sz="7400" dirty="0">
              <a:latin typeface="Agency FB" panose="020B0503020202020204" pitchFamily="34" charset="0"/>
            </a:endParaRPr>
          </a:p>
          <a:p>
            <a:pPr marL="1143000" indent="-1143000" algn="l">
              <a:buFont typeface="Arial" panose="020B0604020202020204" pitchFamily="34" charset="0"/>
              <a:buChar char="•"/>
            </a:pPr>
            <a:r>
              <a:rPr lang="en-US" sz="7400" b="1" dirty="0">
                <a:latin typeface="Agency FB" panose="020B0503020202020204" pitchFamily="34" charset="0"/>
              </a:rPr>
              <a:t>Role (persona) prompting</a:t>
            </a:r>
            <a:endParaRPr lang="en-US" sz="7400" dirty="0">
              <a:latin typeface="Agency FB" panose="020B0503020202020204" pitchFamily="34" charset="0"/>
            </a:endParaRPr>
          </a:p>
          <a:p>
            <a:pPr marL="1143000" indent="-1143000" algn="l">
              <a:buFont typeface="Arial" panose="020B0604020202020204" pitchFamily="34" charset="0"/>
              <a:buChar char="•"/>
            </a:pPr>
            <a:r>
              <a:rPr lang="en-US" sz="7400" b="1" dirty="0">
                <a:latin typeface="Agency FB" panose="020B0503020202020204" pitchFamily="34" charset="0"/>
              </a:rPr>
              <a:t>Chain-of-thought prompting</a:t>
            </a:r>
            <a:endParaRPr lang="en-US" sz="7400" dirty="0">
              <a:latin typeface="Agency FB" panose="020B0503020202020204" pitchFamily="34" charset="0"/>
            </a:endParaRPr>
          </a:p>
          <a:p>
            <a:pPr marL="1143000" indent="-1143000" algn="l">
              <a:buFont typeface="Arial" panose="020B0604020202020204" pitchFamily="34" charset="0"/>
              <a:buChar char="•"/>
            </a:pPr>
            <a:endParaRPr lang="en-US" sz="7400" dirty="0">
              <a:latin typeface="Agency FB" panose="020B0503020202020204" pitchFamily="34" charset="0"/>
            </a:endParaRPr>
          </a:p>
          <a:p>
            <a:endParaRPr lang="en-US" sz="9600" dirty="0"/>
          </a:p>
          <a:p>
            <a:endParaRPr lang="en-US" sz="32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57507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1BCF1-CDCC-4AC5-B6FB-B08DF507F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942"/>
            <a:ext cx="9144000" cy="90871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gency FB" panose="020B0503020202020204" pitchFamily="34" charset="0"/>
              </a:rPr>
              <a:t>Zero-shot prompting</a:t>
            </a: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3A2374-93BF-46D9-A2AA-D063CDA225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98917"/>
            <a:ext cx="9144000" cy="5118013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>
                <a:latin typeface="Agency FB" panose="020B0503020202020204" pitchFamily="34" charset="0"/>
              </a:rPr>
              <a:t>Zero-shot prompting</a:t>
            </a:r>
            <a:r>
              <a:rPr lang="en-US" dirty="0">
                <a:latin typeface="Agency FB" panose="020B0503020202020204" pitchFamily="34" charset="0"/>
              </a:rPr>
              <a:t> is a prompt engineering technique where you ask an AI model to perform a task </a:t>
            </a:r>
            <a:r>
              <a:rPr lang="en-US" b="1" dirty="0">
                <a:latin typeface="Agency FB" panose="020B0503020202020204" pitchFamily="34" charset="0"/>
              </a:rPr>
              <a:t>without providing any examples</a:t>
            </a:r>
            <a:r>
              <a:rPr lang="en-US" dirty="0">
                <a:latin typeface="Agency FB" panose="020B0503020202020204" pitchFamily="34" charset="0"/>
              </a:rPr>
              <a:t>. The model relies entirely on its pre-trained knowledge and understanding of the instruction.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latin typeface="Agency FB" panose="020B0503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b="1" dirty="0">
                <a:latin typeface="Agency FB" panose="020B0503020202020204" pitchFamily="34" charset="0"/>
              </a:rPr>
              <a:t>Pros (Advantages)</a:t>
            </a:r>
          </a:p>
          <a:p>
            <a:endParaRPr lang="en-US" b="1" dirty="0">
              <a:latin typeface="Agency FB" panose="020B0503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Agency FB" panose="020B0503020202020204" pitchFamily="34" charset="0"/>
              </a:rPr>
              <a:t>Simple and quick</a:t>
            </a:r>
            <a:r>
              <a:rPr lang="en-US" dirty="0">
                <a:latin typeface="Agency FB" panose="020B0503020202020204" pitchFamily="34" charset="0"/>
              </a:rPr>
              <a:t> – requires minimal effort to write prompts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Agency FB" panose="020B0503020202020204" pitchFamily="34" charset="0"/>
              </a:rPr>
              <a:t>Time-efficient</a:t>
            </a:r>
            <a:r>
              <a:rPr lang="en-US" dirty="0">
                <a:latin typeface="Agency FB" panose="020B0503020202020204" pitchFamily="34" charset="0"/>
              </a:rPr>
              <a:t> – no need to prepare examples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Agency FB" panose="020B0503020202020204" pitchFamily="34" charset="0"/>
              </a:rPr>
              <a:t>Flexible</a:t>
            </a:r>
            <a:r>
              <a:rPr lang="en-US" dirty="0">
                <a:latin typeface="Agency FB" panose="020B0503020202020204" pitchFamily="34" charset="0"/>
              </a:rPr>
              <a:t> – works well for common or straightforward tasks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Agency FB" panose="020B0503020202020204" pitchFamily="34" charset="0"/>
              </a:rPr>
              <a:t>Good for general tasks</a:t>
            </a:r>
            <a:r>
              <a:rPr lang="en-US" dirty="0">
                <a:latin typeface="Agency FB" panose="020B0503020202020204" pitchFamily="34" charset="0"/>
              </a:rPr>
              <a:t> like summarization, translation, or definitions</a:t>
            </a:r>
          </a:p>
          <a:p>
            <a:endParaRPr lang="en-US" b="1" dirty="0">
              <a:latin typeface="Agency FB" panose="020B0503020202020204" pitchFamily="34" charset="0"/>
            </a:endParaRPr>
          </a:p>
          <a:p>
            <a:endParaRPr lang="en-US" dirty="0">
              <a:latin typeface="Agency FB" panose="020B0503020202020204" pitchFamily="34" charset="0"/>
            </a:endParaRPr>
          </a:p>
          <a:p>
            <a:endParaRPr lang="en-US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07032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D0B6C-C0C6-443E-9FDC-A38CAC61B1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4523"/>
            <a:ext cx="9144000" cy="87482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gency FB" panose="020B0503020202020204" pitchFamily="34" charset="0"/>
              </a:rPr>
              <a:t>Cons (Disadvantages)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3045684-9580-487F-8D92-871ACF31D6F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28991" y="2274838"/>
            <a:ext cx="1033401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Less accurate for complex tasks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Inconsistent output format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if expectations are unclear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Not ideal for specialized or domain-specific tasks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Limited control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over style, tone, or structure</a:t>
            </a:r>
          </a:p>
        </p:txBody>
      </p:sp>
    </p:spTree>
    <p:extLst>
      <p:ext uri="{BB962C8B-B14F-4D97-AF65-F5344CB8AC3E}">
        <p14:creationId xmlns:p14="http://schemas.microsoft.com/office/powerpoint/2010/main" val="115320438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B99C8-0CB9-4C31-9616-794B98B2B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72342"/>
            <a:ext cx="9144000" cy="1072342"/>
          </a:xfrm>
        </p:spPr>
        <p:txBody>
          <a:bodyPr>
            <a:normAutofit/>
          </a:bodyPr>
          <a:lstStyle/>
          <a:p>
            <a:r>
              <a:rPr lang="en-US" b="1" dirty="0">
                <a:latin typeface="Agency FB" panose="020B0503020202020204" pitchFamily="34" charset="0"/>
              </a:rPr>
              <a:t>When to Use Zero-Shot Prompting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BB28C7-BD12-41EF-AB10-161535FA410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01133" y="2876223"/>
            <a:ext cx="1107707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For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simple or well-known tasks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When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speed matters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When the task does not require strict formatting or deep reasoning</a:t>
            </a:r>
          </a:p>
        </p:txBody>
      </p:sp>
    </p:spTree>
    <p:extLst>
      <p:ext uri="{BB962C8B-B14F-4D97-AF65-F5344CB8AC3E}">
        <p14:creationId xmlns:p14="http://schemas.microsoft.com/office/powerpoint/2010/main" val="366791252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792C2-FC76-4CE7-892D-8AB504E43B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14399"/>
            <a:ext cx="9144000" cy="924705"/>
          </a:xfrm>
        </p:spPr>
        <p:txBody>
          <a:bodyPr/>
          <a:lstStyle/>
          <a:p>
            <a:r>
              <a:rPr lang="en-US" b="1" dirty="0">
                <a:latin typeface="Agency FB" panose="020B0503020202020204" pitchFamily="34" charset="0"/>
              </a:rPr>
              <a:t>Few-Shot Prompting</a:t>
            </a: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1CB06D-8E17-4310-974F-C36EC13194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04263"/>
            <a:ext cx="9144000" cy="2773823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b="1" dirty="0">
                <a:latin typeface="Agency FB" panose="020B0503020202020204" pitchFamily="34" charset="0"/>
              </a:rPr>
              <a:t>Few-shot prompting</a:t>
            </a:r>
            <a:r>
              <a:rPr lang="en-US" sz="3600" dirty="0">
                <a:latin typeface="Agency FB" panose="020B0503020202020204" pitchFamily="34" charset="0"/>
              </a:rPr>
              <a:t> is a prompt engineering technique where you provide the AI model with </a:t>
            </a:r>
            <a:r>
              <a:rPr lang="en-US" sz="3600" b="1" dirty="0">
                <a:latin typeface="Agency FB" panose="020B0503020202020204" pitchFamily="34" charset="0"/>
              </a:rPr>
              <a:t>a small number of examples</a:t>
            </a:r>
            <a:r>
              <a:rPr lang="en-US" sz="3600" dirty="0">
                <a:latin typeface="Agency FB" panose="020B0503020202020204" pitchFamily="34" charset="0"/>
              </a:rPr>
              <a:t> (usually 2–5) before asking it to perform the actual task. These examples help the model understand the </a:t>
            </a:r>
            <a:r>
              <a:rPr lang="en-US" sz="3600" b="1" dirty="0">
                <a:latin typeface="Agency FB" panose="020B0503020202020204" pitchFamily="34" charset="0"/>
              </a:rPr>
              <a:t>pattern, format, or style</a:t>
            </a:r>
            <a:r>
              <a:rPr lang="en-US" sz="3600" dirty="0">
                <a:latin typeface="Agency FB" panose="020B0503020202020204" pitchFamily="34" charset="0"/>
              </a:rPr>
              <a:t> expected in the output.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333766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4F85F-22C4-4328-A7B6-5CA82496AA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55715"/>
            <a:ext cx="9144000" cy="89976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gency FB" panose="020B0503020202020204" pitchFamily="34" charset="0"/>
              </a:rPr>
              <a:t>Pros (Advantages)</a:t>
            </a: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DE4809-B380-4F90-9C13-29513D0997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20642"/>
            <a:ext cx="9144000" cy="2782137"/>
          </a:xfrm>
        </p:spPr>
        <p:txBody>
          <a:bodyPr>
            <a:no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b="1" dirty="0">
                <a:latin typeface="Agency FB" panose="020B0503020202020204" pitchFamily="34" charset="0"/>
              </a:rPr>
              <a:t>Improves accuracy</a:t>
            </a:r>
            <a:r>
              <a:rPr lang="en-US" sz="3600" dirty="0">
                <a:latin typeface="Agency FB" panose="020B0503020202020204" pitchFamily="34" charset="0"/>
              </a:rPr>
              <a:t> compared to zero-shot prompting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b="1" dirty="0">
                <a:latin typeface="Agency FB" panose="020B0503020202020204" pitchFamily="34" charset="0"/>
              </a:rPr>
              <a:t>Better consistency</a:t>
            </a:r>
            <a:r>
              <a:rPr lang="en-US" sz="3600" dirty="0">
                <a:latin typeface="Agency FB" panose="020B0503020202020204" pitchFamily="34" charset="0"/>
              </a:rPr>
              <a:t> in output format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b="1" dirty="0">
                <a:latin typeface="Agency FB" panose="020B0503020202020204" pitchFamily="34" charset="0"/>
              </a:rPr>
              <a:t>Useful for complex or ambiguous tasks</a:t>
            </a:r>
            <a:endParaRPr lang="en-US" sz="3600" dirty="0">
              <a:latin typeface="Agency FB" panose="020B0503020202020204" pitchFamily="34" charset="0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b="1" dirty="0">
                <a:latin typeface="Agency FB" panose="020B0503020202020204" pitchFamily="34" charset="0"/>
              </a:rPr>
              <a:t>Provides control</a:t>
            </a:r>
            <a:r>
              <a:rPr lang="en-US" sz="3600" dirty="0">
                <a:latin typeface="Agency FB" panose="020B0503020202020204" pitchFamily="34" charset="0"/>
              </a:rPr>
              <a:t> over style, tone, and structure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36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10482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7C725-6D5A-4708-ADC1-6D86DCFDF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2696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Agency FB" panose="020B0503020202020204" pitchFamily="34" charset="0"/>
              </a:rPr>
              <a:t>Cons (Disadvantages)</a:t>
            </a: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40795-6E92-4DCE-840E-82DF25F9F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91" y="2515581"/>
            <a:ext cx="11256818" cy="2571808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Agency FB" panose="020B0503020202020204" pitchFamily="34" charset="0"/>
              </a:rPr>
              <a:t>Longer prompts</a:t>
            </a:r>
            <a:r>
              <a:rPr lang="en-US" sz="3600" dirty="0">
                <a:latin typeface="Agency FB" panose="020B0503020202020204" pitchFamily="34" charset="0"/>
              </a:rPr>
              <a:t> (more tokens required)</a:t>
            </a:r>
          </a:p>
          <a:p>
            <a:r>
              <a:rPr lang="en-US" sz="3600" b="1" dirty="0">
                <a:latin typeface="Agency FB" panose="020B0503020202020204" pitchFamily="34" charset="0"/>
              </a:rPr>
              <a:t>Requires carefully chosen examples</a:t>
            </a:r>
            <a:endParaRPr lang="en-US" sz="3600" dirty="0">
              <a:latin typeface="Agency FB" panose="020B0503020202020204" pitchFamily="34" charset="0"/>
            </a:endParaRPr>
          </a:p>
          <a:p>
            <a:r>
              <a:rPr lang="en-US" sz="3600" b="1" dirty="0">
                <a:latin typeface="Agency FB" panose="020B0503020202020204" pitchFamily="34" charset="0"/>
              </a:rPr>
              <a:t>Not scalable</a:t>
            </a:r>
            <a:r>
              <a:rPr lang="en-US" sz="3600" dirty="0">
                <a:latin typeface="Agency FB" panose="020B0503020202020204" pitchFamily="34" charset="0"/>
              </a:rPr>
              <a:t> for very large or highly varied tasks</a:t>
            </a:r>
          </a:p>
          <a:p>
            <a:r>
              <a:rPr lang="en-US" sz="3600" b="1" dirty="0">
                <a:latin typeface="Agency FB" panose="020B0503020202020204" pitchFamily="34" charset="0"/>
              </a:rPr>
              <a:t>Performance depends on example quality</a:t>
            </a:r>
          </a:p>
        </p:txBody>
      </p:sp>
    </p:spTree>
    <p:extLst>
      <p:ext uri="{BB962C8B-B14F-4D97-AF65-F5344CB8AC3E}">
        <p14:creationId xmlns:p14="http://schemas.microsoft.com/office/powerpoint/2010/main" val="408420126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D920-BA65-4254-9E13-31B37099C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gency FB" panose="020B0503020202020204" pitchFamily="34" charset="0"/>
              </a:rPr>
              <a:t>When to Use Few-Shot Prompting</a:t>
            </a: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6B9E2-26FE-4EE1-BA7F-B487E858A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285" y="2330768"/>
            <a:ext cx="10741429" cy="26153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Agency FB" panose="020B0503020202020204" pitchFamily="34" charset="0"/>
              </a:rPr>
              <a:t>When tasks require </a:t>
            </a:r>
            <a:r>
              <a:rPr lang="en-US" sz="5400" b="1" dirty="0">
                <a:latin typeface="Agency FB" panose="020B0503020202020204" pitchFamily="34" charset="0"/>
              </a:rPr>
              <a:t>pattern recognition</a:t>
            </a:r>
            <a:endParaRPr lang="en-US" sz="5400" dirty="0">
              <a:latin typeface="Agency FB" panose="020B0503020202020204" pitchFamily="34" charset="0"/>
            </a:endParaRPr>
          </a:p>
          <a:p>
            <a:r>
              <a:rPr lang="en-US" sz="5400" dirty="0">
                <a:latin typeface="Agency FB" panose="020B0503020202020204" pitchFamily="34" charset="0"/>
              </a:rPr>
              <a:t>When </a:t>
            </a:r>
            <a:r>
              <a:rPr lang="en-US" sz="5400" b="1" dirty="0">
                <a:latin typeface="Agency FB" panose="020B0503020202020204" pitchFamily="34" charset="0"/>
              </a:rPr>
              <a:t>output format must be consistent</a:t>
            </a:r>
            <a:endParaRPr lang="en-US" sz="5400" dirty="0">
              <a:latin typeface="Agency FB" panose="020B0503020202020204" pitchFamily="34" charset="0"/>
            </a:endParaRPr>
          </a:p>
          <a:p>
            <a:r>
              <a:rPr lang="en-US" sz="5400" dirty="0">
                <a:latin typeface="Agency FB" panose="020B0503020202020204" pitchFamily="34" charset="0"/>
              </a:rPr>
              <a:t>When zero-shot results are unreliable</a:t>
            </a:r>
          </a:p>
        </p:txBody>
      </p:sp>
    </p:spTree>
    <p:extLst>
      <p:ext uri="{BB962C8B-B14F-4D97-AF65-F5344CB8AC3E}">
        <p14:creationId xmlns:p14="http://schemas.microsoft.com/office/powerpoint/2010/main" val="2922816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80A20-B6C0-4252-B934-C6E92FDCB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55964"/>
            <a:ext cx="9144000" cy="966268"/>
          </a:xfrm>
        </p:spPr>
        <p:txBody>
          <a:bodyPr/>
          <a:lstStyle/>
          <a:p>
            <a:r>
              <a:rPr lang="en-US" b="1" dirty="0">
                <a:latin typeface="Agency FB" panose="020B0503020202020204" pitchFamily="34" charset="0"/>
              </a:rPr>
              <a:t>Instruction-Based Prompting</a:t>
            </a: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6B798-FFFE-430A-8585-34E88C8F8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12576"/>
            <a:ext cx="9144000" cy="1655762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latin typeface="Agency FB" panose="020B0503020202020204" pitchFamily="34" charset="0"/>
              </a:rPr>
              <a:t>Instruction-based prompting</a:t>
            </a:r>
            <a:r>
              <a:rPr lang="en-US" sz="3200" dirty="0">
                <a:latin typeface="Agency FB" panose="020B0503020202020204" pitchFamily="34" charset="0"/>
              </a:rPr>
              <a:t> is a technique where you give the AI </a:t>
            </a:r>
            <a:r>
              <a:rPr lang="en-US" sz="3200" b="1" dirty="0">
                <a:latin typeface="Agency FB" panose="020B0503020202020204" pitchFamily="34" charset="0"/>
              </a:rPr>
              <a:t>clear, detailed instructions</a:t>
            </a:r>
            <a:r>
              <a:rPr lang="en-US" sz="3200" dirty="0">
                <a:latin typeface="Agency FB" panose="020B0503020202020204" pitchFamily="34" charset="0"/>
              </a:rPr>
              <a:t> about </a:t>
            </a:r>
            <a:r>
              <a:rPr lang="en-US" sz="3200" b="1" dirty="0">
                <a:latin typeface="Agency FB" panose="020B0503020202020204" pitchFamily="34" charset="0"/>
              </a:rPr>
              <a:t>what to do, how to do it, and sometimes how not to do it</a:t>
            </a:r>
            <a:r>
              <a:rPr lang="en-US" sz="3200" dirty="0">
                <a:latin typeface="Agency FB" panose="020B0503020202020204" pitchFamily="34" charset="0"/>
              </a:rPr>
              <a:t>. Unlike zero-shot or few-shot prompting, the focus is on </a:t>
            </a:r>
            <a:r>
              <a:rPr lang="en-US" sz="3200" b="1" dirty="0">
                <a:latin typeface="Agency FB" panose="020B0503020202020204" pitchFamily="34" charset="0"/>
              </a:rPr>
              <a:t>explicit directions rather than examples</a:t>
            </a:r>
            <a:r>
              <a:rPr lang="en-US" sz="3200" dirty="0">
                <a:latin typeface="Agency FB" panose="020B0503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232930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E20D0-19E5-40F0-9B4B-11F4B99C2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09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Agency FB" panose="020B0503020202020204" pitchFamily="34" charset="0"/>
              </a:rPr>
              <a:t>Pros (Advantages)</a:t>
            </a: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FECF9-5837-4004-A6EC-479A6D56B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9079"/>
            <a:ext cx="10515600" cy="2746375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Agency FB" panose="020B0503020202020204" pitchFamily="34" charset="0"/>
              </a:rPr>
              <a:t>High control over output</a:t>
            </a:r>
            <a:r>
              <a:rPr lang="en-US" sz="4000" dirty="0">
                <a:latin typeface="Agency FB" panose="020B0503020202020204" pitchFamily="34" charset="0"/>
              </a:rPr>
              <a:t> (length, style, tone)</a:t>
            </a:r>
          </a:p>
          <a:p>
            <a:r>
              <a:rPr lang="en-US" sz="4000" b="1" dirty="0">
                <a:latin typeface="Agency FB" panose="020B0503020202020204" pitchFamily="34" charset="0"/>
              </a:rPr>
              <a:t>Reduces ambiguity</a:t>
            </a:r>
            <a:r>
              <a:rPr lang="en-US" sz="4000" dirty="0">
                <a:latin typeface="Agency FB" panose="020B0503020202020204" pitchFamily="34" charset="0"/>
              </a:rPr>
              <a:t>, so outputs match expectations better</a:t>
            </a:r>
          </a:p>
          <a:p>
            <a:r>
              <a:rPr lang="en-US" sz="4000" b="1" dirty="0">
                <a:latin typeface="Agency FB" panose="020B0503020202020204" pitchFamily="34" charset="0"/>
              </a:rPr>
              <a:t>Flexible</a:t>
            </a:r>
            <a:r>
              <a:rPr lang="en-US" sz="4000" dirty="0">
                <a:latin typeface="Agency FB" panose="020B0503020202020204" pitchFamily="34" charset="0"/>
              </a:rPr>
              <a:t> for creative, formal, or technical tasks</a:t>
            </a:r>
          </a:p>
          <a:p>
            <a:r>
              <a:rPr lang="en-US" sz="4000" b="1" dirty="0">
                <a:latin typeface="Agency FB" panose="020B0503020202020204" pitchFamily="34" charset="0"/>
              </a:rPr>
              <a:t>No need for examples</a:t>
            </a:r>
            <a:r>
              <a:rPr lang="en-US" sz="4000" dirty="0">
                <a:latin typeface="Agency FB" panose="020B0503020202020204" pitchFamily="34" charset="0"/>
              </a:rPr>
              <a:t> — just clear instructions</a:t>
            </a:r>
          </a:p>
        </p:txBody>
      </p:sp>
    </p:spTree>
    <p:extLst>
      <p:ext uri="{BB962C8B-B14F-4D97-AF65-F5344CB8AC3E}">
        <p14:creationId xmlns:p14="http://schemas.microsoft.com/office/powerpoint/2010/main" val="241478274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907CA-0730-452C-87F8-095CA2211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gency FB" panose="020B0503020202020204" pitchFamily="34" charset="0"/>
              </a:rPr>
              <a:t>Cons (Disadvantages)</a:t>
            </a: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1CD2A-CF72-41FA-81E9-7134A31EA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4800" b="1" dirty="0">
                <a:latin typeface="Agency FB" panose="020B0503020202020204" pitchFamily="34" charset="0"/>
              </a:rPr>
              <a:t>Depends on prompt clarity</a:t>
            </a:r>
            <a:r>
              <a:rPr lang="en-US" sz="4800" dirty="0">
                <a:latin typeface="Agency FB" panose="020B0503020202020204" pitchFamily="34" charset="0"/>
              </a:rPr>
              <a:t> — vague instructions give poor results</a:t>
            </a:r>
          </a:p>
          <a:p>
            <a:r>
              <a:rPr lang="en-US" sz="4800" b="1" dirty="0">
                <a:latin typeface="Agency FB" panose="020B0503020202020204" pitchFamily="34" charset="0"/>
              </a:rPr>
              <a:t>Longer prompts</a:t>
            </a:r>
            <a:r>
              <a:rPr lang="en-US" sz="4800" dirty="0">
                <a:latin typeface="Agency FB" panose="020B0503020202020204" pitchFamily="34" charset="0"/>
              </a:rPr>
              <a:t> may be needed for complex tasks</a:t>
            </a:r>
          </a:p>
          <a:p>
            <a:r>
              <a:rPr lang="en-US" sz="4800" b="1" dirty="0">
                <a:latin typeface="Agency FB" panose="020B0503020202020204" pitchFamily="34" charset="0"/>
              </a:rPr>
              <a:t>May still need iteration</a:t>
            </a:r>
            <a:r>
              <a:rPr lang="en-US" sz="4800" dirty="0">
                <a:latin typeface="Agency FB" panose="020B0503020202020204" pitchFamily="34" charset="0"/>
              </a:rPr>
              <a:t> to get the perfect output</a:t>
            </a:r>
          </a:p>
          <a:p>
            <a:r>
              <a:rPr lang="en-US" sz="4800" b="1" dirty="0">
                <a:latin typeface="Agency FB" panose="020B0503020202020204" pitchFamily="34" charset="0"/>
              </a:rPr>
              <a:t>Less pattern learning</a:t>
            </a:r>
            <a:r>
              <a:rPr lang="en-US" sz="4800" dirty="0">
                <a:latin typeface="Agency FB" panose="020B0503020202020204" pitchFamily="34" charset="0"/>
              </a:rPr>
              <a:t> compared to few-shot prompting</a:t>
            </a:r>
          </a:p>
        </p:txBody>
      </p:sp>
    </p:spTree>
    <p:extLst>
      <p:ext uri="{BB962C8B-B14F-4D97-AF65-F5344CB8AC3E}">
        <p14:creationId xmlns:p14="http://schemas.microsoft.com/office/powerpoint/2010/main" val="44631854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9D64F-3A34-44AB-BA89-2B02B22E1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gency FB" panose="020B0503020202020204" pitchFamily="34" charset="0"/>
              </a:rPr>
              <a:t>When to Use Instruction-Based Prompting</a:t>
            </a: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B1309F-2DB6-49DC-9E3F-23918B6DCE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7283" y="2459504"/>
            <a:ext cx="1169743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When the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format, tone, or style matters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For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creative writing, professional reports, or structured outputs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When you want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explicit control without giving examples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36927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68D02-113F-43A1-BD23-B75DC95EB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gency FB" panose="020B0503020202020204" pitchFamily="34" charset="0"/>
              </a:rPr>
              <a:t>Role (Persona) Prompting</a:t>
            </a: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8D2FF-8E2D-40E8-B6D7-A154C8052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5254"/>
            <a:ext cx="10515600" cy="416785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4800" b="1" dirty="0">
                <a:latin typeface="Agency FB" panose="020B0503020202020204" pitchFamily="34" charset="0"/>
              </a:rPr>
              <a:t>Role (or persona) prompting</a:t>
            </a:r>
            <a:r>
              <a:rPr lang="en-US" sz="4800" dirty="0">
                <a:latin typeface="Agency FB" panose="020B0503020202020204" pitchFamily="34" charset="0"/>
              </a:rPr>
              <a:t> is a technique where you assign the AI a </a:t>
            </a:r>
            <a:r>
              <a:rPr lang="en-US" sz="4800" b="1" dirty="0">
                <a:latin typeface="Agency FB" panose="020B0503020202020204" pitchFamily="34" charset="0"/>
              </a:rPr>
              <a:t>specific role, identity, or perspective</a:t>
            </a:r>
            <a:r>
              <a:rPr lang="en-US" sz="4800" dirty="0">
                <a:latin typeface="Agency FB" panose="020B0503020202020204" pitchFamily="34" charset="0"/>
              </a:rPr>
              <a:t> before asking it to perform a task. This guides the model to respond </a:t>
            </a:r>
            <a:r>
              <a:rPr lang="en-US" sz="4800" b="1" dirty="0">
                <a:latin typeface="Agency FB" panose="020B0503020202020204" pitchFamily="34" charset="0"/>
              </a:rPr>
              <a:t>as if it were an expert, professional, or character</a:t>
            </a:r>
            <a:r>
              <a:rPr lang="en-US" sz="4800" dirty="0">
                <a:latin typeface="Agency FB" panose="020B0503020202020204" pitchFamily="34" charset="0"/>
              </a:rPr>
              <a:t>, affecting tone, style, and content.</a:t>
            </a:r>
          </a:p>
        </p:txBody>
      </p:sp>
    </p:spTree>
    <p:extLst>
      <p:ext uri="{BB962C8B-B14F-4D97-AF65-F5344CB8AC3E}">
        <p14:creationId xmlns:p14="http://schemas.microsoft.com/office/powerpoint/2010/main" val="397196844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57616-1AC2-4074-8759-6071D463B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gency FB" panose="020B0503020202020204" pitchFamily="34" charset="0"/>
              </a:rPr>
              <a:t>Pros (Advantages)</a:t>
            </a: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9D25C-5974-4959-919C-7AA5973CE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623" y="2523894"/>
            <a:ext cx="11148753" cy="2962506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Agency FB" panose="020B0503020202020204" pitchFamily="34" charset="0"/>
              </a:rPr>
              <a:t>Leverages domain expertise</a:t>
            </a:r>
            <a:r>
              <a:rPr lang="en-US" sz="4400" dirty="0">
                <a:latin typeface="Agency FB" panose="020B0503020202020204" pitchFamily="34" charset="0"/>
              </a:rPr>
              <a:t> without actual human experts</a:t>
            </a:r>
          </a:p>
          <a:p>
            <a:r>
              <a:rPr lang="en-US" sz="4400" b="1" dirty="0">
                <a:latin typeface="Agency FB" panose="020B0503020202020204" pitchFamily="34" charset="0"/>
              </a:rPr>
              <a:t>Tailors tone and style</a:t>
            </a:r>
            <a:r>
              <a:rPr lang="en-US" sz="4400" dirty="0">
                <a:latin typeface="Agency FB" panose="020B0503020202020204" pitchFamily="34" charset="0"/>
              </a:rPr>
              <a:t> to the audience</a:t>
            </a:r>
          </a:p>
          <a:p>
            <a:r>
              <a:rPr lang="en-US" sz="4400" b="1" dirty="0">
                <a:latin typeface="Agency FB" panose="020B0503020202020204" pitchFamily="34" charset="0"/>
              </a:rPr>
              <a:t>Useful for teaching, consulting, and simulations</a:t>
            </a:r>
            <a:endParaRPr lang="en-US" sz="4400" dirty="0">
              <a:latin typeface="Agency FB" panose="020B0503020202020204" pitchFamily="34" charset="0"/>
            </a:endParaRPr>
          </a:p>
          <a:p>
            <a:r>
              <a:rPr lang="en-US" sz="4400" b="1" dirty="0">
                <a:latin typeface="Agency FB" panose="020B0503020202020204" pitchFamily="34" charset="0"/>
              </a:rPr>
              <a:t>Can make explanations more relatable</a:t>
            </a:r>
            <a:endParaRPr lang="en-US" sz="44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05156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E6273-E587-4351-B1A8-7B3D4B821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gency FB" panose="020B0503020202020204" pitchFamily="34" charset="0"/>
              </a:rPr>
              <a:t>Cons (Disadvantages)</a:t>
            </a: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13C80-E837-4272-9DCE-719949E50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9203"/>
            <a:ext cx="10515600" cy="3195262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Agency FB" panose="020B0503020202020204" pitchFamily="34" charset="0"/>
              </a:rPr>
              <a:t>Effectiveness depends on prompt clarity</a:t>
            </a:r>
            <a:r>
              <a:rPr lang="en-US" sz="4000" dirty="0">
                <a:latin typeface="Agency FB" panose="020B0503020202020204" pitchFamily="34" charset="0"/>
              </a:rPr>
              <a:t> — vague role instructions may lead to generic answers</a:t>
            </a:r>
          </a:p>
          <a:p>
            <a:r>
              <a:rPr lang="en-US" sz="4000" b="1" dirty="0">
                <a:latin typeface="Agency FB" panose="020B0503020202020204" pitchFamily="34" charset="0"/>
              </a:rPr>
              <a:t>May produce inaccurate “expert” advice</a:t>
            </a:r>
            <a:r>
              <a:rPr lang="en-US" sz="4000" dirty="0">
                <a:latin typeface="Agency FB" panose="020B0503020202020204" pitchFamily="34" charset="0"/>
              </a:rPr>
              <a:t> if the model overestimates its knowledge</a:t>
            </a:r>
          </a:p>
          <a:p>
            <a:r>
              <a:rPr lang="en-US" sz="4000" b="1" dirty="0">
                <a:latin typeface="Agency FB" panose="020B0503020202020204" pitchFamily="34" charset="0"/>
              </a:rPr>
              <a:t>Not always suitable for purely factual tasks</a:t>
            </a:r>
            <a:endParaRPr lang="en-US" sz="40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472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F8944-D60E-4562-BA92-E7C919820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gency FB" panose="020B0503020202020204" pitchFamily="34" charset="0"/>
              </a:rPr>
              <a:t>When to Use Role (Persona) Prompting</a:t>
            </a: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9F2C6-B207-4397-AF6D-EB6D4674F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124" y="2490644"/>
            <a:ext cx="10475422" cy="2380614"/>
          </a:xfrm>
        </p:spPr>
        <p:txBody>
          <a:bodyPr>
            <a:noAutofit/>
          </a:bodyPr>
          <a:lstStyle/>
          <a:p>
            <a:r>
              <a:rPr lang="en-US" sz="4800" dirty="0">
                <a:latin typeface="Agency FB" panose="020B0503020202020204" pitchFamily="34" charset="0"/>
              </a:rPr>
              <a:t>Teaching or mentoring scenarios</a:t>
            </a:r>
          </a:p>
          <a:p>
            <a:r>
              <a:rPr lang="en-US" sz="4800" dirty="0">
                <a:latin typeface="Agency FB" panose="020B0503020202020204" pitchFamily="34" charset="0"/>
              </a:rPr>
              <a:t>Simulations or roleplay exercises</a:t>
            </a:r>
          </a:p>
          <a:p>
            <a:r>
              <a:rPr lang="en-US" sz="4800" dirty="0">
                <a:latin typeface="Agency FB" panose="020B0503020202020204" pitchFamily="34" charset="0"/>
              </a:rPr>
              <a:t>Generating domain-specific or expert-style content</a:t>
            </a:r>
          </a:p>
        </p:txBody>
      </p:sp>
    </p:spTree>
    <p:extLst>
      <p:ext uri="{BB962C8B-B14F-4D97-AF65-F5344CB8AC3E}">
        <p14:creationId xmlns:p14="http://schemas.microsoft.com/office/powerpoint/2010/main" val="28592173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952D4-E4B8-4931-8ABF-EA7734831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gency FB" panose="020B0503020202020204" pitchFamily="34" charset="0"/>
              </a:rPr>
              <a:t>Chain-of-Thought (</a:t>
            </a:r>
            <a:r>
              <a:rPr lang="en-US" b="1" dirty="0" err="1">
                <a:latin typeface="Agency FB" panose="020B0503020202020204" pitchFamily="34" charset="0"/>
              </a:rPr>
              <a:t>CoT</a:t>
            </a:r>
            <a:r>
              <a:rPr lang="en-US" b="1" dirty="0">
                <a:latin typeface="Agency FB" panose="020B0503020202020204" pitchFamily="34" charset="0"/>
              </a:rPr>
              <a:t>) Prompting</a:t>
            </a: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1BC5E-76D4-4DE1-B254-752FC588D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6200"/>
            <a:ext cx="10515600" cy="313707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4400" b="1" dirty="0">
                <a:latin typeface="Agency FB" panose="020B0503020202020204" pitchFamily="34" charset="0"/>
              </a:rPr>
              <a:t>Chain-of-Thought prompting</a:t>
            </a:r>
            <a:r>
              <a:rPr lang="en-US" sz="4400" dirty="0">
                <a:latin typeface="Agency FB" panose="020B0503020202020204" pitchFamily="34" charset="0"/>
              </a:rPr>
              <a:t> is a technique where you instruct the AI to </a:t>
            </a:r>
            <a:r>
              <a:rPr lang="en-US" sz="4400" b="1" dirty="0">
                <a:latin typeface="Agency FB" panose="020B0503020202020204" pitchFamily="34" charset="0"/>
              </a:rPr>
              <a:t>reason step by step</a:t>
            </a:r>
            <a:r>
              <a:rPr lang="en-US" sz="4400" dirty="0">
                <a:latin typeface="Agency FB" panose="020B0503020202020204" pitchFamily="34" charset="0"/>
              </a:rPr>
              <a:t> before giving the final answer. Instead of just giving an answer, the model </a:t>
            </a:r>
            <a:r>
              <a:rPr lang="en-US" sz="4400" b="1" dirty="0">
                <a:latin typeface="Agency FB" panose="020B0503020202020204" pitchFamily="34" charset="0"/>
              </a:rPr>
              <a:t>explains its reasoning process</a:t>
            </a:r>
            <a:r>
              <a:rPr lang="en-US" sz="4400" dirty="0">
                <a:latin typeface="Agency FB" panose="020B0503020202020204" pitchFamily="34" charset="0"/>
              </a:rPr>
              <a:t>, which improves accuracy for complex or multi-step tasks.</a:t>
            </a:r>
          </a:p>
        </p:txBody>
      </p:sp>
    </p:spTree>
    <p:extLst>
      <p:ext uri="{BB962C8B-B14F-4D97-AF65-F5344CB8AC3E}">
        <p14:creationId xmlns:p14="http://schemas.microsoft.com/office/powerpoint/2010/main" val="144417087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3F3DF-8EF9-40CC-B639-07BD21554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gency FB" panose="020B0503020202020204" pitchFamily="34" charset="0"/>
              </a:rPr>
              <a:t>Pros (Advantages)</a:t>
            </a: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020A3-3EC1-4F15-AC32-153ECC91A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60775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Agency FB" panose="020B0503020202020204" pitchFamily="34" charset="0"/>
              </a:rPr>
              <a:t>Improves accuracy</a:t>
            </a:r>
            <a:r>
              <a:rPr lang="en-US" sz="4400" dirty="0">
                <a:latin typeface="Agency FB" panose="020B0503020202020204" pitchFamily="34" charset="0"/>
              </a:rPr>
              <a:t> for multi-step reasoning tasks</a:t>
            </a:r>
          </a:p>
          <a:p>
            <a:r>
              <a:rPr lang="en-US" sz="4400" b="1" dirty="0">
                <a:latin typeface="Agency FB" panose="020B0503020202020204" pitchFamily="34" charset="0"/>
              </a:rPr>
              <a:t>Helps in logical thinking and problem-solving</a:t>
            </a:r>
            <a:endParaRPr lang="en-US" sz="4400" dirty="0">
              <a:latin typeface="Agency FB" panose="020B0503020202020204" pitchFamily="34" charset="0"/>
            </a:endParaRPr>
          </a:p>
          <a:p>
            <a:r>
              <a:rPr lang="en-US" sz="4400" b="1" dirty="0">
                <a:latin typeface="Agency FB" panose="020B0503020202020204" pitchFamily="34" charset="0"/>
              </a:rPr>
              <a:t>Useful for math, science, coding, and reasoning questions</a:t>
            </a:r>
            <a:endParaRPr lang="en-US" sz="4400" dirty="0">
              <a:latin typeface="Agency FB" panose="020B0503020202020204" pitchFamily="34" charset="0"/>
            </a:endParaRPr>
          </a:p>
          <a:p>
            <a:r>
              <a:rPr lang="en-US" sz="4400" b="1" dirty="0">
                <a:latin typeface="Agency FB" panose="020B0503020202020204" pitchFamily="34" charset="0"/>
              </a:rPr>
              <a:t>Reduces mistakes</a:t>
            </a:r>
            <a:r>
              <a:rPr lang="en-US" sz="4400" dirty="0">
                <a:latin typeface="Agency FB" panose="020B0503020202020204" pitchFamily="34" charset="0"/>
              </a:rPr>
              <a:t> compared to single-step answers</a:t>
            </a:r>
          </a:p>
        </p:txBody>
      </p:sp>
    </p:spTree>
    <p:extLst>
      <p:ext uri="{BB962C8B-B14F-4D97-AF65-F5344CB8AC3E}">
        <p14:creationId xmlns:p14="http://schemas.microsoft.com/office/powerpoint/2010/main" val="3481028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69431-4751-4A32-96C7-9766F70C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gency FB" panose="020B0503020202020204" pitchFamily="34" charset="0"/>
              </a:rPr>
              <a:t>Cons (Disadvantages)</a:t>
            </a: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F2716-530F-4BA5-B126-CC3DF9213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83488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Agency FB" panose="020B0503020202020204" pitchFamily="34" charset="0"/>
              </a:rPr>
              <a:t>Longer outputs</a:t>
            </a:r>
            <a:r>
              <a:rPr lang="en-US" sz="4800" dirty="0">
                <a:latin typeface="Agency FB" panose="020B0503020202020204" pitchFamily="34" charset="0"/>
              </a:rPr>
              <a:t> may take more time to generate</a:t>
            </a:r>
          </a:p>
          <a:p>
            <a:r>
              <a:rPr lang="en-US" sz="4800" b="1" dirty="0">
                <a:latin typeface="Agency FB" panose="020B0503020202020204" pitchFamily="34" charset="0"/>
              </a:rPr>
              <a:t>Requires clear prompting</a:t>
            </a:r>
            <a:r>
              <a:rPr lang="en-US" sz="4800" dirty="0">
                <a:latin typeface="Agency FB" panose="020B0503020202020204" pitchFamily="34" charset="0"/>
              </a:rPr>
              <a:t> to encourage step-by-step reasoning</a:t>
            </a:r>
          </a:p>
          <a:p>
            <a:r>
              <a:rPr lang="en-US" sz="4800" b="1" dirty="0">
                <a:latin typeface="Agency FB" panose="020B0503020202020204" pitchFamily="34" charset="0"/>
              </a:rPr>
              <a:t>Not always necessary</a:t>
            </a:r>
            <a:r>
              <a:rPr lang="en-US" sz="4800" dirty="0">
                <a:latin typeface="Agency FB" panose="020B0503020202020204" pitchFamily="34" charset="0"/>
              </a:rPr>
              <a:t> for simple tasks</a:t>
            </a:r>
          </a:p>
          <a:p>
            <a:r>
              <a:rPr lang="en-US" sz="4800" b="1" dirty="0">
                <a:latin typeface="Agency FB" panose="020B0503020202020204" pitchFamily="34" charset="0"/>
              </a:rPr>
              <a:t>May sometimes overcomplicate straightforward problems</a:t>
            </a:r>
            <a:endParaRPr lang="en-US" sz="48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27383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2161F-7D93-43AE-BF6C-59D203693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gency FB" panose="020B0503020202020204" pitchFamily="34" charset="0"/>
              </a:rPr>
              <a:t>When to Use Chain-of-Thought Prompting</a:t>
            </a: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60337-6618-4D43-87E6-66AEEA111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3567"/>
            <a:ext cx="10515600" cy="4351338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gency FB" panose="020B0503020202020204" pitchFamily="34" charset="0"/>
              </a:rPr>
              <a:t>Multi-step reasoning or calculations</a:t>
            </a:r>
          </a:p>
          <a:p>
            <a:r>
              <a:rPr lang="en-US" sz="5400" dirty="0">
                <a:latin typeface="Agency FB" panose="020B0503020202020204" pitchFamily="34" charset="0"/>
              </a:rPr>
              <a:t>Problem-solving that requires logic or explanation</a:t>
            </a:r>
          </a:p>
          <a:p>
            <a:r>
              <a:rPr lang="en-US" sz="5400" dirty="0">
                <a:latin typeface="Agency FB" panose="020B0503020202020204" pitchFamily="34" charset="0"/>
              </a:rPr>
              <a:t>Tasks where </a:t>
            </a:r>
            <a:r>
              <a:rPr lang="en-US" sz="5400" b="1" dirty="0">
                <a:latin typeface="Agency FB" panose="020B0503020202020204" pitchFamily="34" charset="0"/>
              </a:rPr>
              <a:t>accuracy is critical</a:t>
            </a:r>
            <a:endParaRPr lang="en-US" sz="54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54057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8FBAF-D0FE-4C1B-90EA-09B247CAE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1815"/>
            <a:ext cx="10515600" cy="58509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Agency FB" panose="020B0503020202020204" pitchFamily="34" charset="0"/>
              </a:rPr>
              <a:t>Prompt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5A519-3FC1-4564-AE81-02B61D822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6373"/>
            <a:ext cx="10515600" cy="35760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gency FB" panose="020B0503020202020204" pitchFamily="34" charset="0"/>
              </a:rPr>
              <a:t>Poor Prompt Demo  :</a:t>
            </a:r>
          </a:p>
          <a:p>
            <a:pPr marL="0" indent="0">
              <a:buNone/>
            </a:pPr>
            <a:r>
              <a:rPr lang="en-US" dirty="0">
                <a:latin typeface="Agency FB" panose="020B0503020202020204" pitchFamily="34" charset="0"/>
              </a:rPr>
              <a:t>Make a Java program that does calculations.</a:t>
            </a:r>
          </a:p>
          <a:p>
            <a:pPr marL="0" indent="0">
              <a:buNone/>
            </a:pPr>
            <a:endParaRPr lang="en-US" dirty="0">
              <a:latin typeface="Agency FB" panose="020B0503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gency FB" panose="020B0503020202020204" pitchFamily="34" charset="0"/>
              </a:rPr>
              <a:t>Result :</a:t>
            </a:r>
          </a:p>
          <a:p>
            <a:r>
              <a:rPr lang="en-US" dirty="0">
                <a:latin typeface="Agency FB" panose="020B0503020202020204" pitchFamily="34" charset="0"/>
              </a:rPr>
              <a:t>Here’s a simple </a:t>
            </a:r>
            <a:r>
              <a:rPr lang="en-US" b="1" dirty="0">
                <a:latin typeface="Agency FB" panose="020B0503020202020204" pitchFamily="34" charset="0"/>
              </a:rPr>
              <a:t>Java console calculator program</a:t>
            </a:r>
            <a:r>
              <a:rPr lang="en-US" dirty="0">
                <a:latin typeface="Agency FB" panose="020B0503020202020204" pitchFamily="34" charset="0"/>
              </a:rPr>
              <a:t> that performs basic calculations: addition, subtraction, multiplication, and division.</a:t>
            </a:r>
          </a:p>
          <a:p>
            <a:r>
              <a:rPr lang="en-US" dirty="0">
                <a:latin typeface="Agency FB" panose="020B0503020202020204" pitchFamily="34" charset="0"/>
              </a:rPr>
              <a:t>It’s beginner-friendly and uses user input.</a:t>
            </a:r>
          </a:p>
          <a:p>
            <a:pPr marL="0" indent="0">
              <a:buNone/>
            </a:pPr>
            <a:endParaRPr lang="en-US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89486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89CE2-7B72-4738-8DA9-55B567681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933" y="575204"/>
            <a:ext cx="10515600" cy="717021"/>
          </a:xfrm>
        </p:spPr>
        <p:txBody>
          <a:bodyPr/>
          <a:lstStyle/>
          <a:p>
            <a:pPr algn="ctr"/>
            <a:r>
              <a:rPr lang="en-US" dirty="0">
                <a:latin typeface="Agency FB" panose="020B0503020202020204" pitchFamily="34" charset="0"/>
              </a:rPr>
              <a:t>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A6377-F0D9-4347-A556-BB6C22346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9999" y="1420547"/>
            <a:ext cx="10041467" cy="53273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import </a:t>
            </a:r>
            <a:r>
              <a:rPr lang="en-US" sz="1200" dirty="0" err="1">
                <a:latin typeface="Agency FB" panose="020B0503020202020204" pitchFamily="34" charset="0"/>
              </a:rPr>
              <a:t>java.util.Scanner</a:t>
            </a:r>
            <a:r>
              <a:rPr lang="en-US" sz="1200" dirty="0">
                <a:latin typeface="Agency FB" panose="020B0503020202020204" pitchFamily="34" charset="0"/>
              </a:rPr>
              <a:t>;</a:t>
            </a:r>
          </a:p>
          <a:p>
            <a:pPr marL="0" indent="0" algn="ctr">
              <a:buNone/>
            </a:pPr>
            <a:endParaRPr lang="en-US" sz="1200" dirty="0">
              <a:latin typeface="Agency FB" panose="020B0503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public class Calculator {</a:t>
            </a:r>
          </a:p>
          <a:p>
            <a:pPr marL="0" indent="0" algn="ctr">
              <a:buNone/>
            </a:pPr>
            <a:endParaRPr lang="en-US" sz="1200" dirty="0">
              <a:latin typeface="Agency FB" panose="020B0503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public static void main(String[] </a:t>
            </a:r>
            <a:r>
              <a:rPr lang="en-US" sz="1200" dirty="0" err="1">
                <a:latin typeface="Agency FB" panose="020B0503020202020204" pitchFamily="34" charset="0"/>
              </a:rPr>
              <a:t>args</a:t>
            </a:r>
            <a:r>
              <a:rPr lang="en-US" sz="1200" dirty="0">
                <a:latin typeface="Agency FB" panose="020B0503020202020204" pitchFamily="34" charset="0"/>
              </a:rPr>
              <a:t>) {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Scanner </a:t>
            </a:r>
            <a:r>
              <a:rPr lang="en-US" sz="1200" dirty="0" err="1">
                <a:latin typeface="Agency FB" panose="020B0503020202020204" pitchFamily="34" charset="0"/>
              </a:rPr>
              <a:t>scanner</a:t>
            </a:r>
            <a:r>
              <a:rPr lang="en-US" sz="1200" dirty="0">
                <a:latin typeface="Agency FB" panose="020B0503020202020204" pitchFamily="34" charset="0"/>
              </a:rPr>
              <a:t> = new Scanner(System.in);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</a:t>
            </a:r>
            <a:r>
              <a:rPr lang="en-US" sz="1200" dirty="0" err="1">
                <a:latin typeface="Agency FB" panose="020B0503020202020204" pitchFamily="34" charset="0"/>
              </a:rPr>
              <a:t>boolean</a:t>
            </a:r>
            <a:r>
              <a:rPr lang="en-US" sz="1200" dirty="0">
                <a:latin typeface="Agency FB" panose="020B0503020202020204" pitchFamily="34" charset="0"/>
              </a:rPr>
              <a:t> running = true;</a:t>
            </a:r>
          </a:p>
          <a:p>
            <a:pPr marL="0" indent="0" algn="ctr">
              <a:buNone/>
            </a:pPr>
            <a:endParaRPr lang="en-US" sz="1200" dirty="0">
              <a:latin typeface="Agency FB" panose="020B0503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while (running) {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</a:t>
            </a:r>
            <a:r>
              <a:rPr lang="en-US" sz="1200" dirty="0" err="1">
                <a:latin typeface="Agency FB" panose="020B0503020202020204" pitchFamily="34" charset="0"/>
              </a:rPr>
              <a:t>System.out.println</a:t>
            </a:r>
            <a:r>
              <a:rPr lang="en-US" sz="1200" dirty="0">
                <a:latin typeface="Agency FB" panose="020B0503020202020204" pitchFamily="34" charset="0"/>
              </a:rPr>
              <a:t>("\n=== Simple Calculator ===");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</a:t>
            </a:r>
            <a:r>
              <a:rPr lang="en-US" sz="1200" dirty="0" err="1">
                <a:latin typeface="Agency FB" panose="020B0503020202020204" pitchFamily="34" charset="0"/>
              </a:rPr>
              <a:t>System.out.println</a:t>
            </a:r>
            <a:r>
              <a:rPr lang="en-US" sz="1200" dirty="0">
                <a:latin typeface="Agency FB" panose="020B0503020202020204" pitchFamily="34" charset="0"/>
              </a:rPr>
              <a:t>("1. Add");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</a:t>
            </a:r>
            <a:r>
              <a:rPr lang="en-US" sz="1200" dirty="0" err="1">
                <a:latin typeface="Agency FB" panose="020B0503020202020204" pitchFamily="34" charset="0"/>
              </a:rPr>
              <a:t>System.out.println</a:t>
            </a:r>
            <a:r>
              <a:rPr lang="en-US" sz="1200" dirty="0">
                <a:latin typeface="Agency FB" panose="020B0503020202020204" pitchFamily="34" charset="0"/>
              </a:rPr>
              <a:t>("2. Subtract");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</a:t>
            </a:r>
            <a:r>
              <a:rPr lang="en-US" sz="1200" dirty="0" err="1">
                <a:latin typeface="Agency FB" panose="020B0503020202020204" pitchFamily="34" charset="0"/>
              </a:rPr>
              <a:t>System.out.println</a:t>
            </a:r>
            <a:r>
              <a:rPr lang="en-US" sz="1200" dirty="0">
                <a:latin typeface="Agency FB" panose="020B0503020202020204" pitchFamily="34" charset="0"/>
              </a:rPr>
              <a:t>("3. Multiply");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</a:t>
            </a:r>
            <a:r>
              <a:rPr lang="en-US" sz="1200" dirty="0" err="1">
                <a:latin typeface="Agency FB" panose="020B0503020202020204" pitchFamily="34" charset="0"/>
              </a:rPr>
              <a:t>System.out.println</a:t>
            </a:r>
            <a:r>
              <a:rPr lang="en-US" sz="1200" dirty="0">
                <a:latin typeface="Agency FB" panose="020B0503020202020204" pitchFamily="34" charset="0"/>
              </a:rPr>
              <a:t>("4. Divide");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</a:t>
            </a:r>
            <a:r>
              <a:rPr lang="en-US" sz="1200" dirty="0" err="1">
                <a:latin typeface="Agency FB" panose="020B0503020202020204" pitchFamily="34" charset="0"/>
              </a:rPr>
              <a:t>System.out.println</a:t>
            </a:r>
            <a:r>
              <a:rPr lang="en-US" sz="1200" dirty="0">
                <a:latin typeface="Agency FB" panose="020B0503020202020204" pitchFamily="34" charset="0"/>
              </a:rPr>
              <a:t>("5. Exit");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</a:t>
            </a:r>
            <a:r>
              <a:rPr lang="en-US" sz="1200" dirty="0" err="1">
                <a:latin typeface="Agency FB" panose="020B0503020202020204" pitchFamily="34" charset="0"/>
              </a:rPr>
              <a:t>System.out.print</a:t>
            </a:r>
            <a:r>
              <a:rPr lang="en-US" sz="1200" dirty="0">
                <a:latin typeface="Agency FB" panose="020B0503020202020204" pitchFamily="34" charset="0"/>
              </a:rPr>
              <a:t>("Choose an option: ");</a:t>
            </a:r>
          </a:p>
          <a:p>
            <a:pPr marL="0" indent="0" algn="ctr">
              <a:buNone/>
            </a:pPr>
            <a:endParaRPr lang="en-US" sz="1200" dirty="0">
              <a:latin typeface="Agency FB" panose="020B0503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int choice = </a:t>
            </a:r>
            <a:r>
              <a:rPr lang="en-US" sz="1200" dirty="0" err="1">
                <a:latin typeface="Agency FB" panose="020B0503020202020204" pitchFamily="34" charset="0"/>
              </a:rPr>
              <a:t>scanner.nextInt</a:t>
            </a:r>
            <a:r>
              <a:rPr lang="en-US" sz="1200" dirty="0">
                <a:latin typeface="Agency FB" panose="020B0503020202020204" pitchFamily="34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19479996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A55E5-9A46-4648-A327-266DE518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125"/>
            <a:ext cx="10515600" cy="1325563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51600-7F2A-447D-A23A-2E51EC4E2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6322"/>
            <a:ext cx="10515600" cy="558535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if (choice == 5) {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    running = false;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    </a:t>
            </a:r>
            <a:r>
              <a:rPr lang="en-US" sz="1200" dirty="0" err="1">
                <a:latin typeface="Agency FB" panose="020B0503020202020204" pitchFamily="34" charset="0"/>
              </a:rPr>
              <a:t>System.out.println</a:t>
            </a:r>
            <a:r>
              <a:rPr lang="en-US" sz="1200" dirty="0">
                <a:latin typeface="Agency FB" panose="020B0503020202020204" pitchFamily="34" charset="0"/>
              </a:rPr>
              <a:t>("Goodbye!");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    break;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}</a:t>
            </a:r>
          </a:p>
          <a:p>
            <a:pPr marL="0" indent="0" algn="ctr">
              <a:buNone/>
            </a:pPr>
            <a:endParaRPr lang="en-US" sz="1200" dirty="0">
              <a:latin typeface="Agency FB" panose="020B0503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</a:t>
            </a:r>
            <a:r>
              <a:rPr lang="en-US" sz="1200" dirty="0" err="1">
                <a:latin typeface="Agency FB" panose="020B0503020202020204" pitchFamily="34" charset="0"/>
              </a:rPr>
              <a:t>System.out.print</a:t>
            </a:r>
            <a:r>
              <a:rPr lang="en-US" sz="1200" dirty="0">
                <a:latin typeface="Agency FB" panose="020B0503020202020204" pitchFamily="34" charset="0"/>
              </a:rPr>
              <a:t>("Enter first number: ");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double num1 = </a:t>
            </a:r>
            <a:r>
              <a:rPr lang="en-US" sz="1200" dirty="0" err="1">
                <a:latin typeface="Agency FB" panose="020B0503020202020204" pitchFamily="34" charset="0"/>
              </a:rPr>
              <a:t>scanner.nextDouble</a:t>
            </a:r>
            <a:r>
              <a:rPr lang="en-US" sz="1200" dirty="0">
                <a:latin typeface="Agency FB" panose="020B0503020202020204" pitchFamily="34" charset="0"/>
              </a:rPr>
              <a:t>();</a:t>
            </a:r>
          </a:p>
          <a:p>
            <a:pPr marL="0" indent="0" algn="ctr">
              <a:buNone/>
            </a:pPr>
            <a:endParaRPr lang="en-US" sz="1200" dirty="0">
              <a:latin typeface="Agency FB" panose="020B0503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</a:t>
            </a:r>
            <a:r>
              <a:rPr lang="en-US" sz="1200" dirty="0" err="1">
                <a:latin typeface="Agency FB" panose="020B0503020202020204" pitchFamily="34" charset="0"/>
              </a:rPr>
              <a:t>System.out.print</a:t>
            </a:r>
            <a:r>
              <a:rPr lang="en-US" sz="1200" dirty="0">
                <a:latin typeface="Agency FB" panose="020B0503020202020204" pitchFamily="34" charset="0"/>
              </a:rPr>
              <a:t>("Enter second number: ");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double num2 = </a:t>
            </a:r>
            <a:r>
              <a:rPr lang="en-US" sz="1200" dirty="0" err="1">
                <a:latin typeface="Agency FB" panose="020B0503020202020204" pitchFamily="34" charset="0"/>
              </a:rPr>
              <a:t>scanner.nextDouble</a:t>
            </a:r>
            <a:r>
              <a:rPr lang="en-US" sz="1200" dirty="0">
                <a:latin typeface="Agency FB" panose="020B0503020202020204" pitchFamily="34" charset="0"/>
              </a:rPr>
              <a:t>();</a:t>
            </a:r>
          </a:p>
          <a:p>
            <a:pPr marL="0" indent="0" algn="ctr">
              <a:buNone/>
            </a:pPr>
            <a:endParaRPr lang="en-US" sz="1200" dirty="0">
              <a:latin typeface="Agency FB" panose="020B0503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double result;</a:t>
            </a:r>
          </a:p>
          <a:p>
            <a:pPr marL="0" indent="0" algn="ctr">
              <a:buNone/>
            </a:pPr>
            <a:endParaRPr lang="en-US" sz="1200" dirty="0">
              <a:latin typeface="Agency FB" panose="020B0503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switch (choice) {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    case 1: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        result = num1 + num2;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        </a:t>
            </a:r>
            <a:r>
              <a:rPr lang="en-US" sz="1200" dirty="0" err="1">
                <a:latin typeface="Agency FB" panose="020B0503020202020204" pitchFamily="34" charset="0"/>
              </a:rPr>
              <a:t>System.out.println</a:t>
            </a:r>
            <a:r>
              <a:rPr lang="en-US" sz="1200" dirty="0">
                <a:latin typeface="Agency FB" panose="020B0503020202020204" pitchFamily="34" charset="0"/>
              </a:rPr>
              <a:t>("Result: " + result);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        break;</a:t>
            </a:r>
          </a:p>
        </p:txBody>
      </p:sp>
    </p:spTree>
    <p:extLst>
      <p:ext uri="{BB962C8B-B14F-4D97-AF65-F5344CB8AC3E}">
        <p14:creationId xmlns:p14="http://schemas.microsoft.com/office/powerpoint/2010/main" val="361380768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4E96C-EEF6-4361-9F4A-86E60F9EB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8255"/>
            <a:ext cx="10515600" cy="1325563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197C2-290F-451B-9D7A-10BFA6BFB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38112"/>
            <a:ext cx="10515600" cy="642937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case 2: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        result = num1 - num2;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        </a:t>
            </a:r>
            <a:r>
              <a:rPr lang="en-US" sz="1200" dirty="0" err="1">
                <a:latin typeface="Agency FB" panose="020B0503020202020204" pitchFamily="34" charset="0"/>
              </a:rPr>
              <a:t>System.out.println</a:t>
            </a:r>
            <a:r>
              <a:rPr lang="en-US" sz="1200" dirty="0">
                <a:latin typeface="Agency FB" panose="020B0503020202020204" pitchFamily="34" charset="0"/>
              </a:rPr>
              <a:t>("Result: " + result);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        break;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    case 3: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        result = num1 * num2;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        </a:t>
            </a:r>
            <a:r>
              <a:rPr lang="en-US" sz="1200" dirty="0" err="1">
                <a:latin typeface="Agency FB" panose="020B0503020202020204" pitchFamily="34" charset="0"/>
              </a:rPr>
              <a:t>System.out.println</a:t>
            </a:r>
            <a:r>
              <a:rPr lang="en-US" sz="1200" dirty="0">
                <a:latin typeface="Agency FB" panose="020B0503020202020204" pitchFamily="34" charset="0"/>
              </a:rPr>
              <a:t>("Result: " + result);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        break;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    case 4: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        if (num2 == 0) {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            </a:t>
            </a:r>
            <a:r>
              <a:rPr lang="en-US" sz="1200" dirty="0" err="1">
                <a:latin typeface="Agency FB" panose="020B0503020202020204" pitchFamily="34" charset="0"/>
              </a:rPr>
              <a:t>System.out.println</a:t>
            </a:r>
            <a:r>
              <a:rPr lang="en-US" sz="1200" dirty="0">
                <a:latin typeface="Agency FB" panose="020B0503020202020204" pitchFamily="34" charset="0"/>
              </a:rPr>
              <a:t>("Error: Cannot divide by zero.");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        } else {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            result = num1 / num2;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            </a:t>
            </a:r>
            <a:r>
              <a:rPr lang="en-US" sz="1200" dirty="0" err="1">
                <a:latin typeface="Agency FB" panose="020B0503020202020204" pitchFamily="34" charset="0"/>
              </a:rPr>
              <a:t>System.out.println</a:t>
            </a:r>
            <a:r>
              <a:rPr lang="en-US" sz="1200" dirty="0">
                <a:latin typeface="Agency FB" panose="020B0503020202020204" pitchFamily="34" charset="0"/>
              </a:rPr>
              <a:t>("Result: " + result);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        }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        break;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    default: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        </a:t>
            </a:r>
            <a:r>
              <a:rPr lang="en-US" sz="1200" dirty="0" err="1">
                <a:latin typeface="Agency FB" panose="020B0503020202020204" pitchFamily="34" charset="0"/>
              </a:rPr>
              <a:t>System.out.println</a:t>
            </a:r>
            <a:r>
              <a:rPr lang="en-US" sz="1200" dirty="0">
                <a:latin typeface="Agency FB" panose="020B0503020202020204" pitchFamily="34" charset="0"/>
              </a:rPr>
              <a:t>("Invalid option.");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    }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}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    </a:t>
            </a:r>
            <a:r>
              <a:rPr lang="en-US" sz="1200" dirty="0" err="1">
                <a:latin typeface="Agency FB" panose="020B0503020202020204" pitchFamily="34" charset="0"/>
              </a:rPr>
              <a:t>scanner.close</a:t>
            </a:r>
            <a:r>
              <a:rPr lang="en-US" sz="1200" dirty="0">
                <a:latin typeface="Agency FB" panose="020B0503020202020204" pitchFamily="34" charset="0"/>
              </a:rPr>
              <a:t>();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    }</a:t>
            </a:r>
          </a:p>
          <a:p>
            <a:pPr marL="0" indent="0" algn="ctr">
              <a:buNone/>
            </a:pPr>
            <a:r>
              <a:rPr lang="en-US" sz="1200" dirty="0">
                <a:latin typeface="Agency FB" panose="020B0503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51255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7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1FEE8-20AC-408D-907B-9DE1AF342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gency FB" panose="020B0503020202020204" pitchFamily="34" charset="0"/>
              </a:rPr>
              <a:t>Engineered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9BE6E-44AA-4CA9-BDC3-68EC23A22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gency FB" panose="020B0503020202020204" pitchFamily="34" charset="0"/>
              </a:rPr>
              <a:t>Demo :</a:t>
            </a:r>
          </a:p>
          <a:p>
            <a:pPr marL="0" indent="0">
              <a:buNone/>
            </a:pPr>
            <a:endParaRPr lang="en-US" dirty="0">
              <a:latin typeface="Agency FB" panose="020B0503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gency FB" panose="020B0503020202020204" pitchFamily="34" charset="0"/>
              </a:rPr>
              <a:t>Write a Java console program that: Allows the user to enter two numbers Allows the user to choose an operation: addition, subtraction, multiplication, or division Performs the selected calculation Handles division by zero gracefully Displays the result clearly Uses simple control structures suitable for beginners</a:t>
            </a:r>
          </a:p>
          <a:p>
            <a:pPr marL="0" indent="0">
              <a:buNone/>
            </a:pPr>
            <a:endParaRPr lang="en-US" dirty="0">
              <a:latin typeface="Agency FB" panose="020B0503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gency FB" panose="020B0503020202020204" pitchFamily="34" charset="0"/>
              </a:rPr>
              <a:t>Here’s a </a:t>
            </a:r>
            <a:r>
              <a:rPr lang="en-US" b="1" dirty="0">
                <a:latin typeface="Agency FB" panose="020B0503020202020204" pitchFamily="34" charset="0"/>
              </a:rPr>
              <a:t>simple, beginner-friendly Java console program</a:t>
            </a:r>
            <a:r>
              <a:rPr lang="en-US" dirty="0">
                <a:latin typeface="Agency FB" panose="020B0503020202020204" pitchFamily="34" charset="0"/>
              </a:rPr>
              <a:t> that meets all your requirements:</a:t>
            </a:r>
          </a:p>
        </p:txBody>
      </p:sp>
    </p:spTree>
    <p:extLst>
      <p:ext uri="{BB962C8B-B14F-4D97-AF65-F5344CB8AC3E}">
        <p14:creationId xmlns:p14="http://schemas.microsoft.com/office/powerpoint/2010/main" val="184272205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926BD-363F-4D4F-B8FF-5646EA431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223"/>
            <a:ext cx="10515600" cy="667755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latin typeface="Agency FB" panose="020B0503020202020204" pitchFamily="34" charset="0"/>
              </a:rPr>
              <a:t>import </a:t>
            </a:r>
            <a:r>
              <a:rPr lang="en-US" sz="1100" dirty="0" err="1">
                <a:latin typeface="Agency FB" panose="020B0503020202020204" pitchFamily="34" charset="0"/>
              </a:rPr>
              <a:t>java.util.Scanner</a:t>
            </a:r>
            <a:r>
              <a:rPr lang="en-US" sz="1100" dirty="0">
                <a:latin typeface="Agency FB" panose="020B0503020202020204" pitchFamily="34" charset="0"/>
              </a:rPr>
              <a:t>;</a:t>
            </a:r>
          </a:p>
          <a:p>
            <a:pPr marL="0" indent="0" algn="ctr">
              <a:buNone/>
            </a:pPr>
            <a:endParaRPr lang="en-US" sz="1100" dirty="0">
              <a:latin typeface="Agency FB" panose="020B0503020202020204" pitchFamily="34" charset="0"/>
            </a:endParaRPr>
          </a:p>
          <a:p>
            <a:pPr marL="0" indent="0" algn="ctr">
              <a:buNone/>
            </a:pPr>
            <a:r>
              <a:rPr lang="en-US" sz="1100" dirty="0">
                <a:latin typeface="Agency FB" panose="020B0503020202020204" pitchFamily="34" charset="0"/>
              </a:rPr>
              <a:t>public class </a:t>
            </a:r>
            <a:r>
              <a:rPr lang="en-US" sz="1100" dirty="0" err="1">
                <a:latin typeface="Agency FB" panose="020B0503020202020204" pitchFamily="34" charset="0"/>
              </a:rPr>
              <a:t>SimpleCalculator</a:t>
            </a:r>
            <a:r>
              <a:rPr lang="en-US" sz="1100" dirty="0">
                <a:latin typeface="Agency FB" panose="020B0503020202020204" pitchFamily="34" charset="0"/>
              </a:rPr>
              <a:t> {</a:t>
            </a:r>
          </a:p>
          <a:p>
            <a:pPr marL="0" indent="0" algn="ctr">
              <a:buNone/>
            </a:pPr>
            <a:r>
              <a:rPr lang="en-US" sz="1100" dirty="0">
                <a:latin typeface="Agency FB" panose="020B0503020202020204" pitchFamily="34" charset="0"/>
              </a:rPr>
              <a:t>    public static void main(String[] </a:t>
            </a:r>
            <a:r>
              <a:rPr lang="en-US" sz="1100" dirty="0" err="1">
                <a:latin typeface="Agency FB" panose="020B0503020202020204" pitchFamily="34" charset="0"/>
              </a:rPr>
              <a:t>args</a:t>
            </a:r>
            <a:r>
              <a:rPr lang="en-US" sz="1100" dirty="0">
                <a:latin typeface="Agency FB" panose="020B0503020202020204" pitchFamily="34" charset="0"/>
              </a:rPr>
              <a:t>) {</a:t>
            </a:r>
          </a:p>
          <a:p>
            <a:pPr marL="0" indent="0" algn="ctr">
              <a:buNone/>
            </a:pPr>
            <a:endParaRPr lang="en-US" sz="1100" dirty="0">
              <a:latin typeface="Agency FB" panose="020B0503020202020204" pitchFamily="34" charset="0"/>
            </a:endParaRPr>
          </a:p>
          <a:p>
            <a:pPr marL="0" indent="0" algn="ctr">
              <a:buNone/>
            </a:pPr>
            <a:r>
              <a:rPr lang="en-US" sz="1100" dirty="0">
                <a:latin typeface="Agency FB" panose="020B0503020202020204" pitchFamily="34" charset="0"/>
              </a:rPr>
              <a:t>        Scanner </a:t>
            </a:r>
            <a:r>
              <a:rPr lang="en-US" sz="1100" dirty="0" err="1">
                <a:latin typeface="Agency FB" panose="020B0503020202020204" pitchFamily="34" charset="0"/>
              </a:rPr>
              <a:t>scanner</a:t>
            </a:r>
            <a:r>
              <a:rPr lang="en-US" sz="1100" dirty="0">
                <a:latin typeface="Agency FB" panose="020B0503020202020204" pitchFamily="34" charset="0"/>
              </a:rPr>
              <a:t> = new Scanner(System.in);</a:t>
            </a:r>
          </a:p>
          <a:p>
            <a:pPr marL="0" indent="0" algn="ctr">
              <a:buNone/>
            </a:pPr>
            <a:endParaRPr lang="en-US" sz="1100" dirty="0">
              <a:latin typeface="Agency FB" panose="020B0503020202020204" pitchFamily="34" charset="0"/>
            </a:endParaRPr>
          </a:p>
          <a:p>
            <a:pPr marL="0" indent="0" algn="ctr">
              <a:buNone/>
            </a:pPr>
            <a:r>
              <a:rPr lang="en-US" sz="1100" dirty="0">
                <a:latin typeface="Agency FB" panose="020B0503020202020204" pitchFamily="34" charset="0"/>
              </a:rPr>
              <a:t>        // Input two numbers</a:t>
            </a:r>
          </a:p>
          <a:p>
            <a:pPr marL="0" indent="0" algn="ctr">
              <a:buNone/>
            </a:pPr>
            <a:r>
              <a:rPr lang="en-US" sz="1100" dirty="0">
                <a:latin typeface="Agency FB" panose="020B0503020202020204" pitchFamily="34" charset="0"/>
              </a:rPr>
              <a:t>        </a:t>
            </a:r>
            <a:r>
              <a:rPr lang="en-US" sz="1100" dirty="0" err="1">
                <a:latin typeface="Agency FB" panose="020B0503020202020204" pitchFamily="34" charset="0"/>
              </a:rPr>
              <a:t>System.out.print</a:t>
            </a:r>
            <a:r>
              <a:rPr lang="en-US" sz="1100" dirty="0">
                <a:latin typeface="Agency FB" panose="020B0503020202020204" pitchFamily="34" charset="0"/>
              </a:rPr>
              <a:t>("Enter the first number: ");</a:t>
            </a:r>
          </a:p>
          <a:p>
            <a:pPr marL="0" indent="0" algn="ctr">
              <a:buNone/>
            </a:pPr>
            <a:r>
              <a:rPr lang="en-US" sz="1100" dirty="0">
                <a:latin typeface="Agency FB" panose="020B0503020202020204" pitchFamily="34" charset="0"/>
              </a:rPr>
              <a:t>        double num1 = </a:t>
            </a:r>
            <a:r>
              <a:rPr lang="en-US" sz="1100" dirty="0" err="1">
                <a:latin typeface="Agency FB" panose="020B0503020202020204" pitchFamily="34" charset="0"/>
              </a:rPr>
              <a:t>scanner.nextDouble</a:t>
            </a:r>
            <a:r>
              <a:rPr lang="en-US" sz="1100" dirty="0">
                <a:latin typeface="Agency FB" panose="020B0503020202020204" pitchFamily="34" charset="0"/>
              </a:rPr>
              <a:t>();</a:t>
            </a:r>
          </a:p>
          <a:p>
            <a:pPr marL="0" indent="0" algn="ctr">
              <a:buNone/>
            </a:pPr>
            <a:endParaRPr lang="en-US" sz="1100" dirty="0">
              <a:latin typeface="Agency FB" panose="020B0503020202020204" pitchFamily="34" charset="0"/>
            </a:endParaRPr>
          </a:p>
          <a:p>
            <a:pPr marL="0" indent="0" algn="ctr">
              <a:buNone/>
            </a:pPr>
            <a:r>
              <a:rPr lang="en-US" sz="1100" dirty="0">
                <a:latin typeface="Agency FB" panose="020B0503020202020204" pitchFamily="34" charset="0"/>
              </a:rPr>
              <a:t>        </a:t>
            </a:r>
            <a:r>
              <a:rPr lang="en-US" sz="1100" dirty="0" err="1">
                <a:latin typeface="Agency FB" panose="020B0503020202020204" pitchFamily="34" charset="0"/>
              </a:rPr>
              <a:t>System.out.print</a:t>
            </a:r>
            <a:r>
              <a:rPr lang="en-US" sz="1100" dirty="0">
                <a:latin typeface="Agency FB" panose="020B0503020202020204" pitchFamily="34" charset="0"/>
              </a:rPr>
              <a:t>("Enter the second number: ");</a:t>
            </a:r>
          </a:p>
          <a:p>
            <a:pPr marL="0" indent="0" algn="ctr">
              <a:buNone/>
            </a:pPr>
            <a:r>
              <a:rPr lang="en-US" sz="1100" dirty="0">
                <a:latin typeface="Agency FB" panose="020B0503020202020204" pitchFamily="34" charset="0"/>
              </a:rPr>
              <a:t>        double num2 = </a:t>
            </a:r>
            <a:r>
              <a:rPr lang="en-US" sz="1100" dirty="0" err="1">
                <a:latin typeface="Agency FB" panose="020B0503020202020204" pitchFamily="34" charset="0"/>
              </a:rPr>
              <a:t>scanner.nextDouble</a:t>
            </a:r>
            <a:r>
              <a:rPr lang="en-US" sz="1100" dirty="0">
                <a:latin typeface="Agency FB" panose="020B0503020202020204" pitchFamily="34" charset="0"/>
              </a:rPr>
              <a:t>();</a:t>
            </a:r>
          </a:p>
          <a:p>
            <a:pPr marL="0" indent="0" algn="ctr">
              <a:buNone/>
            </a:pPr>
            <a:endParaRPr lang="en-US" sz="1100" dirty="0">
              <a:latin typeface="Agency FB" panose="020B0503020202020204" pitchFamily="34" charset="0"/>
            </a:endParaRPr>
          </a:p>
          <a:p>
            <a:pPr marL="0" indent="0" algn="ctr">
              <a:buNone/>
            </a:pPr>
            <a:r>
              <a:rPr lang="en-US" sz="1100" dirty="0">
                <a:latin typeface="Agency FB" panose="020B0503020202020204" pitchFamily="34" charset="0"/>
              </a:rPr>
              <a:t>        // Choose operation</a:t>
            </a:r>
          </a:p>
          <a:p>
            <a:pPr marL="0" indent="0" algn="ctr">
              <a:buNone/>
            </a:pPr>
            <a:r>
              <a:rPr lang="en-US" sz="1100" dirty="0">
                <a:latin typeface="Agency FB" panose="020B0503020202020204" pitchFamily="34" charset="0"/>
              </a:rPr>
              <a:t>        </a:t>
            </a:r>
            <a:r>
              <a:rPr lang="en-US" sz="1100" dirty="0" err="1">
                <a:latin typeface="Agency FB" panose="020B0503020202020204" pitchFamily="34" charset="0"/>
              </a:rPr>
              <a:t>System.out.println</a:t>
            </a:r>
            <a:r>
              <a:rPr lang="en-US" sz="1100" dirty="0">
                <a:latin typeface="Agency FB" panose="020B0503020202020204" pitchFamily="34" charset="0"/>
              </a:rPr>
              <a:t>("\</a:t>
            </a:r>
            <a:r>
              <a:rPr lang="en-US" sz="1100" dirty="0" err="1">
                <a:latin typeface="Agency FB" panose="020B0503020202020204" pitchFamily="34" charset="0"/>
              </a:rPr>
              <a:t>nChoose</a:t>
            </a:r>
            <a:r>
              <a:rPr lang="en-US" sz="1100" dirty="0">
                <a:latin typeface="Agency FB" panose="020B0503020202020204" pitchFamily="34" charset="0"/>
              </a:rPr>
              <a:t> an operation:");</a:t>
            </a:r>
          </a:p>
          <a:p>
            <a:pPr marL="0" indent="0" algn="ctr">
              <a:buNone/>
            </a:pPr>
            <a:r>
              <a:rPr lang="en-US" sz="1100" dirty="0">
                <a:latin typeface="Agency FB" panose="020B0503020202020204" pitchFamily="34" charset="0"/>
              </a:rPr>
              <a:t>        </a:t>
            </a:r>
            <a:r>
              <a:rPr lang="en-US" sz="1100" dirty="0" err="1">
                <a:latin typeface="Agency FB" panose="020B0503020202020204" pitchFamily="34" charset="0"/>
              </a:rPr>
              <a:t>System.out.println</a:t>
            </a:r>
            <a:r>
              <a:rPr lang="en-US" sz="1100" dirty="0">
                <a:latin typeface="Agency FB" panose="020B0503020202020204" pitchFamily="34" charset="0"/>
              </a:rPr>
              <a:t>("1 - Addition");</a:t>
            </a:r>
          </a:p>
          <a:p>
            <a:pPr marL="0" indent="0" algn="ctr">
              <a:buNone/>
            </a:pPr>
            <a:r>
              <a:rPr lang="en-US" sz="1100" dirty="0">
                <a:latin typeface="Agency FB" panose="020B0503020202020204" pitchFamily="34" charset="0"/>
              </a:rPr>
              <a:t>        </a:t>
            </a:r>
            <a:r>
              <a:rPr lang="en-US" sz="1100" dirty="0" err="1">
                <a:latin typeface="Agency FB" panose="020B0503020202020204" pitchFamily="34" charset="0"/>
              </a:rPr>
              <a:t>System.out.println</a:t>
            </a:r>
            <a:r>
              <a:rPr lang="en-US" sz="1100" dirty="0">
                <a:latin typeface="Agency FB" panose="020B0503020202020204" pitchFamily="34" charset="0"/>
              </a:rPr>
              <a:t>("2 - Subtraction");</a:t>
            </a:r>
          </a:p>
          <a:p>
            <a:pPr marL="0" indent="0" algn="ctr">
              <a:buNone/>
            </a:pPr>
            <a:r>
              <a:rPr lang="en-US" sz="1100" dirty="0">
                <a:latin typeface="Agency FB" panose="020B0503020202020204" pitchFamily="34" charset="0"/>
              </a:rPr>
              <a:t>        </a:t>
            </a:r>
            <a:r>
              <a:rPr lang="en-US" sz="1100" dirty="0" err="1">
                <a:latin typeface="Agency FB" panose="020B0503020202020204" pitchFamily="34" charset="0"/>
              </a:rPr>
              <a:t>System.out.println</a:t>
            </a:r>
            <a:r>
              <a:rPr lang="en-US" sz="1100" dirty="0">
                <a:latin typeface="Agency FB" panose="020B0503020202020204" pitchFamily="34" charset="0"/>
              </a:rPr>
              <a:t>("3 - Multiplication");</a:t>
            </a:r>
          </a:p>
          <a:p>
            <a:pPr marL="0" indent="0" algn="ctr">
              <a:buNone/>
            </a:pPr>
            <a:r>
              <a:rPr lang="en-US" sz="1100" dirty="0">
                <a:latin typeface="Agency FB" panose="020B0503020202020204" pitchFamily="34" charset="0"/>
              </a:rPr>
              <a:t>        </a:t>
            </a:r>
            <a:r>
              <a:rPr lang="en-US" sz="1100" dirty="0" err="1">
                <a:latin typeface="Agency FB" panose="020B0503020202020204" pitchFamily="34" charset="0"/>
              </a:rPr>
              <a:t>System.out.println</a:t>
            </a:r>
            <a:r>
              <a:rPr lang="en-US" sz="1100" dirty="0">
                <a:latin typeface="Agency FB" panose="020B0503020202020204" pitchFamily="34" charset="0"/>
              </a:rPr>
              <a:t>("4 - Division");</a:t>
            </a:r>
          </a:p>
          <a:p>
            <a:pPr marL="0" indent="0" algn="ctr">
              <a:buNone/>
            </a:pPr>
            <a:r>
              <a:rPr lang="en-US" sz="1100" dirty="0">
                <a:latin typeface="Agency FB" panose="020B0503020202020204" pitchFamily="34" charset="0"/>
              </a:rPr>
              <a:t>        </a:t>
            </a:r>
            <a:r>
              <a:rPr lang="en-US" sz="1100" dirty="0" err="1">
                <a:latin typeface="Agency FB" panose="020B0503020202020204" pitchFamily="34" charset="0"/>
              </a:rPr>
              <a:t>System.out.print</a:t>
            </a:r>
            <a:r>
              <a:rPr lang="en-US" sz="1100" dirty="0">
                <a:latin typeface="Agency FB" panose="020B0503020202020204" pitchFamily="34" charset="0"/>
              </a:rPr>
              <a:t>("Enter your choice (1-4): ");</a:t>
            </a:r>
          </a:p>
          <a:p>
            <a:pPr marL="0" indent="0" algn="ctr">
              <a:buNone/>
            </a:pPr>
            <a:endParaRPr lang="en-US" sz="1100" dirty="0">
              <a:latin typeface="Agency FB" panose="020B0503020202020204" pitchFamily="34" charset="0"/>
            </a:endParaRPr>
          </a:p>
          <a:p>
            <a:pPr marL="0" indent="0" algn="ctr">
              <a:buNone/>
            </a:pPr>
            <a:r>
              <a:rPr lang="en-US" sz="1100" dirty="0">
                <a:latin typeface="Agency FB" panose="020B0503020202020204" pitchFamily="34" charset="0"/>
              </a:rPr>
              <a:t>        int choice = </a:t>
            </a:r>
            <a:r>
              <a:rPr lang="en-US" sz="1100" dirty="0" err="1">
                <a:latin typeface="Agency FB" panose="020B0503020202020204" pitchFamily="34" charset="0"/>
              </a:rPr>
              <a:t>scanner.nextInt</a:t>
            </a:r>
            <a:r>
              <a:rPr lang="en-US" sz="1100" dirty="0">
                <a:latin typeface="Agency FB" panose="020B0503020202020204" pitchFamily="34" charset="0"/>
              </a:rPr>
              <a:t>();</a:t>
            </a:r>
          </a:p>
          <a:p>
            <a:pPr marL="0" indent="0" algn="ctr">
              <a:buNone/>
            </a:pPr>
            <a:r>
              <a:rPr lang="en-US" sz="1100" dirty="0">
                <a:latin typeface="Agency FB" panose="020B0503020202020204" pitchFamily="34" charset="0"/>
              </a:rPr>
              <a:t>        double result;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8556B2-FA16-2FF5-D50A-51019E19A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0" y="90223"/>
            <a:ext cx="10515600" cy="1325563"/>
          </a:xfrm>
        </p:spPr>
        <p:txBody>
          <a:bodyPr/>
          <a:lstStyle/>
          <a:p>
            <a:r>
              <a:rPr lang="en-US" dirty="0">
                <a:latin typeface="Agency FB" panose="020B0503020202020204" pitchFamily="34" charset="0"/>
              </a:rPr>
              <a:t>CODE :</a:t>
            </a:r>
          </a:p>
        </p:txBody>
      </p:sp>
    </p:spTree>
    <p:extLst>
      <p:ext uri="{BB962C8B-B14F-4D97-AF65-F5344CB8AC3E}">
        <p14:creationId xmlns:p14="http://schemas.microsoft.com/office/powerpoint/2010/main" val="214253636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0F41A-0EBB-4530-A947-C96FA0731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21C49-0B40-499C-AD17-F377CCE30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631"/>
            <a:ext cx="10515600" cy="670110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050" dirty="0">
                <a:latin typeface="Agency FB" panose="020B0503020202020204" pitchFamily="34" charset="0"/>
              </a:rPr>
              <a:t>// Perform calculation</a:t>
            </a:r>
          </a:p>
          <a:p>
            <a:pPr marL="0" indent="0" algn="ctr">
              <a:buNone/>
            </a:pPr>
            <a:r>
              <a:rPr lang="en-US" sz="1050" dirty="0">
                <a:latin typeface="Agency FB" panose="020B0503020202020204" pitchFamily="34" charset="0"/>
              </a:rPr>
              <a:t>        switch (choice) {</a:t>
            </a:r>
          </a:p>
          <a:p>
            <a:pPr marL="0" indent="0" algn="ctr">
              <a:buNone/>
            </a:pPr>
            <a:r>
              <a:rPr lang="en-US" sz="1050" dirty="0">
                <a:latin typeface="Agency FB" panose="020B0503020202020204" pitchFamily="34" charset="0"/>
              </a:rPr>
              <a:t>            case 1:</a:t>
            </a:r>
          </a:p>
          <a:p>
            <a:pPr marL="0" indent="0" algn="ctr">
              <a:buNone/>
            </a:pPr>
            <a:r>
              <a:rPr lang="en-US" sz="1050" dirty="0">
                <a:latin typeface="Agency FB" panose="020B0503020202020204" pitchFamily="34" charset="0"/>
              </a:rPr>
              <a:t>                result = num1 + num2;</a:t>
            </a:r>
          </a:p>
          <a:p>
            <a:pPr marL="0" indent="0" algn="ctr">
              <a:buNone/>
            </a:pPr>
            <a:r>
              <a:rPr lang="en-US" sz="1050" dirty="0">
                <a:latin typeface="Agency FB" panose="020B0503020202020204" pitchFamily="34" charset="0"/>
              </a:rPr>
              <a:t>                </a:t>
            </a:r>
            <a:r>
              <a:rPr lang="en-US" sz="1050" dirty="0" err="1">
                <a:latin typeface="Agency FB" panose="020B0503020202020204" pitchFamily="34" charset="0"/>
              </a:rPr>
              <a:t>System.out.println</a:t>
            </a:r>
            <a:r>
              <a:rPr lang="en-US" sz="1050" dirty="0">
                <a:latin typeface="Agency FB" panose="020B0503020202020204" pitchFamily="34" charset="0"/>
              </a:rPr>
              <a:t>("Result: " + result);</a:t>
            </a:r>
          </a:p>
          <a:p>
            <a:pPr marL="0" indent="0" algn="ctr">
              <a:buNone/>
            </a:pPr>
            <a:r>
              <a:rPr lang="en-US" sz="1050" dirty="0">
                <a:latin typeface="Agency FB" panose="020B0503020202020204" pitchFamily="34" charset="0"/>
              </a:rPr>
              <a:t>                break;</a:t>
            </a:r>
          </a:p>
          <a:p>
            <a:pPr marL="0" indent="0" algn="ctr">
              <a:buNone/>
            </a:pPr>
            <a:endParaRPr lang="en-US" sz="1050" dirty="0">
              <a:latin typeface="Agency FB" panose="020B0503020202020204" pitchFamily="34" charset="0"/>
            </a:endParaRPr>
          </a:p>
          <a:p>
            <a:pPr marL="0" indent="0" algn="ctr">
              <a:buNone/>
            </a:pPr>
            <a:r>
              <a:rPr lang="en-US" sz="1050" dirty="0">
                <a:latin typeface="Agency FB" panose="020B0503020202020204" pitchFamily="34" charset="0"/>
              </a:rPr>
              <a:t>            case 2:</a:t>
            </a:r>
          </a:p>
          <a:p>
            <a:pPr marL="0" indent="0" algn="ctr">
              <a:buNone/>
            </a:pPr>
            <a:r>
              <a:rPr lang="en-US" sz="1050" dirty="0">
                <a:latin typeface="Agency FB" panose="020B0503020202020204" pitchFamily="34" charset="0"/>
              </a:rPr>
              <a:t>                result = num1 - num2;</a:t>
            </a:r>
          </a:p>
          <a:p>
            <a:pPr marL="0" indent="0" algn="ctr">
              <a:buNone/>
            </a:pPr>
            <a:r>
              <a:rPr lang="en-US" sz="1050" dirty="0">
                <a:latin typeface="Agency FB" panose="020B0503020202020204" pitchFamily="34" charset="0"/>
              </a:rPr>
              <a:t>                </a:t>
            </a:r>
            <a:r>
              <a:rPr lang="en-US" sz="1050" dirty="0" err="1">
                <a:latin typeface="Agency FB" panose="020B0503020202020204" pitchFamily="34" charset="0"/>
              </a:rPr>
              <a:t>System.out.println</a:t>
            </a:r>
            <a:r>
              <a:rPr lang="en-US" sz="1050" dirty="0">
                <a:latin typeface="Agency FB" panose="020B0503020202020204" pitchFamily="34" charset="0"/>
              </a:rPr>
              <a:t>("Result: " + result);</a:t>
            </a:r>
          </a:p>
          <a:p>
            <a:pPr marL="0" indent="0" algn="ctr">
              <a:buNone/>
            </a:pPr>
            <a:r>
              <a:rPr lang="en-US" sz="1050" dirty="0">
                <a:latin typeface="Agency FB" panose="020B0503020202020204" pitchFamily="34" charset="0"/>
              </a:rPr>
              <a:t>                break;</a:t>
            </a:r>
          </a:p>
          <a:p>
            <a:pPr marL="0" indent="0" algn="ctr">
              <a:buNone/>
            </a:pPr>
            <a:endParaRPr lang="en-US" sz="1050" dirty="0">
              <a:latin typeface="Agency FB" panose="020B0503020202020204" pitchFamily="34" charset="0"/>
            </a:endParaRPr>
          </a:p>
          <a:p>
            <a:pPr marL="0" indent="0" algn="ctr">
              <a:buNone/>
            </a:pPr>
            <a:r>
              <a:rPr lang="en-US" sz="1050" dirty="0">
                <a:latin typeface="Agency FB" panose="020B0503020202020204" pitchFamily="34" charset="0"/>
              </a:rPr>
              <a:t>            case 3:</a:t>
            </a:r>
          </a:p>
          <a:p>
            <a:pPr marL="0" indent="0" algn="ctr">
              <a:buNone/>
            </a:pPr>
            <a:r>
              <a:rPr lang="en-US" sz="1050" dirty="0">
                <a:latin typeface="Agency FB" panose="020B0503020202020204" pitchFamily="34" charset="0"/>
              </a:rPr>
              <a:t>                result = num1 * num2;</a:t>
            </a:r>
          </a:p>
          <a:p>
            <a:pPr marL="0" indent="0" algn="ctr">
              <a:buNone/>
            </a:pPr>
            <a:r>
              <a:rPr lang="en-US" sz="1050" dirty="0">
                <a:latin typeface="Agency FB" panose="020B0503020202020204" pitchFamily="34" charset="0"/>
              </a:rPr>
              <a:t>                </a:t>
            </a:r>
            <a:r>
              <a:rPr lang="en-US" sz="1050" dirty="0" err="1">
                <a:latin typeface="Agency FB" panose="020B0503020202020204" pitchFamily="34" charset="0"/>
              </a:rPr>
              <a:t>System.out.println</a:t>
            </a:r>
            <a:r>
              <a:rPr lang="en-US" sz="1050" dirty="0">
                <a:latin typeface="Agency FB" panose="020B0503020202020204" pitchFamily="34" charset="0"/>
              </a:rPr>
              <a:t>("Result: " + result);</a:t>
            </a:r>
          </a:p>
          <a:p>
            <a:pPr marL="0" indent="0" algn="ctr">
              <a:buNone/>
            </a:pPr>
            <a:r>
              <a:rPr lang="en-US" sz="1050" dirty="0">
                <a:latin typeface="Agency FB" panose="020B0503020202020204" pitchFamily="34" charset="0"/>
              </a:rPr>
              <a:t>                break;</a:t>
            </a:r>
          </a:p>
          <a:p>
            <a:pPr marL="0" indent="0" algn="ctr">
              <a:buNone/>
            </a:pPr>
            <a:endParaRPr lang="en-US" sz="1050" dirty="0">
              <a:latin typeface="Agency FB" panose="020B0503020202020204" pitchFamily="34" charset="0"/>
            </a:endParaRPr>
          </a:p>
          <a:p>
            <a:pPr marL="0" indent="0" algn="ctr">
              <a:buNone/>
            </a:pPr>
            <a:r>
              <a:rPr lang="en-US" sz="1050" dirty="0">
                <a:latin typeface="Agency FB" panose="020B0503020202020204" pitchFamily="34" charset="0"/>
              </a:rPr>
              <a:t>            case 4:</a:t>
            </a:r>
          </a:p>
          <a:p>
            <a:pPr marL="0" indent="0" algn="ctr">
              <a:buNone/>
            </a:pPr>
            <a:r>
              <a:rPr lang="en-US" sz="1050" dirty="0">
                <a:latin typeface="Agency FB" panose="020B0503020202020204" pitchFamily="34" charset="0"/>
              </a:rPr>
              <a:t>                if (num2 == 0) {</a:t>
            </a:r>
          </a:p>
          <a:p>
            <a:pPr marL="0" indent="0" algn="ctr">
              <a:buNone/>
            </a:pPr>
            <a:r>
              <a:rPr lang="en-US" sz="1050" dirty="0">
                <a:latin typeface="Agency FB" panose="020B0503020202020204" pitchFamily="34" charset="0"/>
              </a:rPr>
              <a:t>                    </a:t>
            </a:r>
            <a:r>
              <a:rPr lang="en-US" sz="1050" dirty="0" err="1">
                <a:latin typeface="Agency FB" panose="020B0503020202020204" pitchFamily="34" charset="0"/>
              </a:rPr>
              <a:t>System.out.println</a:t>
            </a:r>
            <a:r>
              <a:rPr lang="en-US" sz="1050" dirty="0">
                <a:latin typeface="Agency FB" panose="020B0503020202020204" pitchFamily="34" charset="0"/>
              </a:rPr>
              <a:t>("Error: Division by zero is not allowed.");</a:t>
            </a:r>
          </a:p>
          <a:p>
            <a:pPr marL="0" indent="0" algn="ctr">
              <a:buNone/>
            </a:pPr>
            <a:r>
              <a:rPr lang="en-US" sz="1050" dirty="0">
                <a:latin typeface="Agency FB" panose="020B0503020202020204" pitchFamily="34" charset="0"/>
              </a:rPr>
              <a:t>                } else {</a:t>
            </a:r>
          </a:p>
          <a:p>
            <a:pPr marL="0" indent="0" algn="ctr">
              <a:buNone/>
            </a:pPr>
            <a:r>
              <a:rPr lang="en-US" sz="1050" dirty="0">
                <a:latin typeface="Agency FB" panose="020B0503020202020204" pitchFamily="34" charset="0"/>
              </a:rPr>
              <a:t>                    result = num1 / num2;</a:t>
            </a:r>
          </a:p>
          <a:p>
            <a:pPr marL="0" indent="0" algn="ctr">
              <a:buNone/>
            </a:pPr>
            <a:r>
              <a:rPr lang="en-US" sz="1050" dirty="0">
                <a:latin typeface="Agency FB" panose="020B0503020202020204" pitchFamily="34" charset="0"/>
              </a:rPr>
              <a:t>                    </a:t>
            </a:r>
            <a:r>
              <a:rPr lang="en-US" sz="1050" dirty="0" err="1">
                <a:latin typeface="Agency FB" panose="020B0503020202020204" pitchFamily="34" charset="0"/>
              </a:rPr>
              <a:t>System.out.println</a:t>
            </a:r>
            <a:r>
              <a:rPr lang="en-US" sz="1050" dirty="0">
                <a:latin typeface="Agency FB" panose="020B0503020202020204" pitchFamily="34" charset="0"/>
              </a:rPr>
              <a:t>("Result: " + result);</a:t>
            </a:r>
          </a:p>
          <a:p>
            <a:pPr marL="0" indent="0" algn="ctr">
              <a:buNone/>
            </a:pPr>
            <a:r>
              <a:rPr lang="en-US" sz="1050" dirty="0">
                <a:latin typeface="Agency FB" panose="020B0503020202020204" pitchFamily="34" charset="0"/>
              </a:rPr>
              <a:t>                }</a:t>
            </a:r>
          </a:p>
          <a:p>
            <a:pPr marL="0" indent="0" algn="ctr">
              <a:buNone/>
            </a:pPr>
            <a:r>
              <a:rPr lang="en-US" sz="1050" dirty="0">
                <a:latin typeface="Agency FB" panose="020B0503020202020204" pitchFamily="34" charset="0"/>
              </a:rPr>
              <a:t>                break;</a:t>
            </a:r>
          </a:p>
          <a:p>
            <a:pPr marL="0" indent="0" algn="ctr">
              <a:buNone/>
            </a:pPr>
            <a:endParaRPr lang="en-US" sz="1050" dirty="0">
              <a:latin typeface="Agency FB" panose="020B0503020202020204" pitchFamily="34" charset="0"/>
            </a:endParaRPr>
          </a:p>
          <a:p>
            <a:pPr marL="0" indent="0" algn="ctr">
              <a:buNone/>
            </a:pPr>
            <a:endParaRPr lang="en-US" sz="105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98160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8D771-DBDE-4E1E-A6DD-3CD89973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824"/>
            <a:ext cx="10515600" cy="1325563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5EC29-2C7E-4787-8327-A2D77B5BE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8596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latin typeface="Agency FB" panose="020B0503020202020204" pitchFamily="34" charset="0"/>
              </a:rPr>
              <a:t> default:</a:t>
            </a:r>
          </a:p>
          <a:p>
            <a:pPr marL="0" indent="0" algn="ctr">
              <a:buNone/>
            </a:pPr>
            <a:r>
              <a:rPr lang="en-US" dirty="0">
                <a:latin typeface="Agency FB" panose="020B0503020202020204" pitchFamily="34" charset="0"/>
              </a:rPr>
              <a:t>                </a:t>
            </a:r>
            <a:r>
              <a:rPr lang="en-US" dirty="0" err="1">
                <a:latin typeface="Agency FB" panose="020B0503020202020204" pitchFamily="34" charset="0"/>
              </a:rPr>
              <a:t>System.out.println</a:t>
            </a:r>
            <a:r>
              <a:rPr lang="en-US" dirty="0">
                <a:latin typeface="Agency FB" panose="020B0503020202020204" pitchFamily="34" charset="0"/>
              </a:rPr>
              <a:t>("Invalid choice. Please select a number between 1 and 4.");</a:t>
            </a:r>
          </a:p>
          <a:p>
            <a:pPr marL="0" indent="0" algn="ctr">
              <a:buNone/>
            </a:pPr>
            <a:r>
              <a:rPr lang="en-US" dirty="0">
                <a:latin typeface="Agency FB" panose="020B0503020202020204" pitchFamily="34" charset="0"/>
              </a:rPr>
              <a:t>        }</a:t>
            </a:r>
          </a:p>
          <a:p>
            <a:pPr marL="0" indent="0" algn="ctr">
              <a:buNone/>
            </a:pPr>
            <a:endParaRPr lang="en-US" dirty="0">
              <a:latin typeface="Agency FB" panose="020B0503020202020204" pitchFamily="34" charset="0"/>
            </a:endParaRPr>
          </a:p>
          <a:p>
            <a:pPr marL="0" indent="0" algn="ctr">
              <a:buNone/>
            </a:pPr>
            <a:r>
              <a:rPr lang="en-US" dirty="0">
                <a:latin typeface="Agency FB" panose="020B0503020202020204" pitchFamily="34" charset="0"/>
              </a:rPr>
              <a:t>        </a:t>
            </a:r>
            <a:r>
              <a:rPr lang="en-US" dirty="0" err="1">
                <a:latin typeface="Agency FB" panose="020B0503020202020204" pitchFamily="34" charset="0"/>
              </a:rPr>
              <a:t>scanner.close</a:t>
            </a:r>
            <a:r>
              <a:rPr lang="en-US" dirty="0">
                <a:latin typeface="Agency FB" panose="020B0503020202020204" pitchFamily="34" charset="0"/>
              </a:rPr>
              <a:t>();</a:t>
            </a:r>
          </a:p>
          <a:p>
            <a:pPr marL="0" indent="0" algn="ctr">
              <a:buNone/>
            </a:pPr>
            <a:r>
              <a:rPr lang="en-US" dirty="0">
                <a:latin typeface="Agency FB" panose="020B0503020202020204" pitchFamily="34" charset="0"/>
              </a:rPr>
              <a:t>    }</a:t>
            </a:r>
          </a:p>
          <a:p>
            <a:pPr marL="0" indent="0" algn="ctr">
              <a:buNone/>
            </a:pPr>
            <a:r>
              <a:rPr lang="en-US" dirty="0">
                <a:latin typeface="Agency FB" panose="020B0503020202020204" pitchFamily="34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5437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1689</Words>
  <Application>Microsoft Office PowerPoint</Application>
  <PresentationFormat>Widescreen</PresentationFormat>
  <Paragraphs>249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Agency FB</vt:lpstr>
      <vt:lpstr>Arial</vt:lpstr>
      <vt:lpstr>Calibri</vt:lpstr>
      <vt:lpstr>Calibri Light</vt:lpstr>
      <vt:lpstr>Wingdings</vt:lpstr>
      <vt:lpstr>Office Theme</vt:lpstr>
      <vt:lpstr>PROMPT ENGINEERING</vt:lpstr>
      <vt:lpstr>What is prompt engineering ?</vt:lpstr>
      <vt:lpstr>Types of prompt engineering</vt:lpstr>
      <vt:lpstr>Zero-shot prompting</vt:lpstr>
      <vt:lpstr>Cons (Disadvantages)</vt:lpstr>
      <vt:lpstr>When to Use Zero-Shot Prompting</vt:lpstr>
      <vt:lpstr>Few-Shot Prompting</vt:lpstr>
      <vt:lpstr>Pros (Advantages)</vt:lpstr>
      <vt:lpstr>Cons (Disadvantages)</vt:lpstr>
      <vt:lpstr>When to Use Few-Shot Prompting</vt:lpstr>
      <vt:lpstr>Instruction-Based Prompting</vt:lpstr>
      <vt:lpstr>Pros (Advantages)</vt:lpstr>
      <vt:lpstr>Cons (Disadvantages)</vt:lpstr>
      <vt:lpstr>When to Use Instruction-Based Prompting</vt:lpstr>
      <vt:lpstr>Role (Persona) Prompting</vt:lpstr>
      <vt:lpstr>Pros (Advantages)</vt:lpstr>
      <vt:lpstr>Cons (Disadvantages)</vt:lpstr>
      <vt:lpstr>When to Use Role (Persona) Prompting</vt:lpstr>
      <vt:lpstr>Chain-of-Thought (CoT) Prompting</vt:lpstr>
      <vt:lpstr>Pros (Advantages)</vt:lpstr>
      <vt:lpstr>Cons (Disadvantages)</vt:lpstr>
      <vt:lpstr>When to Use Chain-of-Thought Prompting</vt:lpstr>
      <vt:lpstr>Prompt Example</vt:lpstr>
      <vt:lpstr>CODE</vt:lpstr>
      <vt:lpstr> </vt:lpstr>
      <vt:lpstr> </vt:lpstr>
      <vt:lpstr>Engineered Prompt</vt:lpstr>
      <vt:lpstr>CODE :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prompt engineering ?</dc:title>
  <dc:creator>Real Saubhagya</dc:creator>
  <cp:lastModifiedBy>Class 11</cp:lastModifiedBy>
  <cp:revision>30</cp:revision>
  <dcterms:created xsi:type="dcterms:W3CDTF">2026-01-21T00:04:07Z</dcterms:created>
  <dcterms:modified xsi:type="dcterms:W3CDTF">2026-01-22T05:52:37Z</dcterms:modified>
</cp:coreProperties>
</file>